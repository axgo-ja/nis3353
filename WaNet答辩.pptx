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1828800"/>
            <a:ext cx="8534095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103120"/>
            <a:ext cx="85340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0EEE8"/>
                </a:solidFill>
                <a:latin typeface="Microsoft YaHei"/>
              </a:defRPr>
            </a:pPr>
            <a:r>
              <a:t>Warping后门攻击的频域弱点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91840"/>
            <a:ext cx="8534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C9A96E"/>
                </a:solidFill>
                <a:latin typeface="Microsoft YaHei"/>
              </a:defRPr>
            </a:pPr>
            <a:r>
              <a:t>WaNet复现与分析 | AI安全课程设计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023360"/>
            <a:ext cx="8534095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8A8F9A"/>
                </a:solidFill>
                <a:latin typeface="Microsoft YaHei"/>
              </a:defRPr>
            </a:pPr>
            <a:r>
              <a:t>周争妍 (主实验+防御)  |  成员2 (消融+频域检测器)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9200"/>
            <a:ext cx="8534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8A8F9A"/>
                </a:solidFill>
                <a:latin typeface="Microsoft YaHei"/>
              </a:defRPr>
            </a:pPr>
            <a:r>
              <a:t>2024-2025春季学期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什么是后门攻击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0"/>
              </a:spcAft>
              <a:defRPr sz="1700" b="1">
                <a:solidFill>
                  <a:srgbClr val="F0EEE8"/>
                </a:solidFill>
                <a:latin typeface="Microsoft YaHei"/>
              </a:defRPr>
            </a:pPr>
            <a:r>
              <a:t>深度学习模型在训练阶段可被植入[后门]</a:t>
            </a:r>
          </a:p>
          <a:p>
            <a:pPr>
              <a:spcAft>
                <a:spcPts val="680"/>
              </a:spcAft>
              <a:defRPr sz="1700" b="0">
                <a:solidFill>
                  <a:srgbClr val="8A8F9A"/>
                </a:solidFill>
                <a:latin typeface="Microsoft YaHei"/>
              </a:defRPr>
            </a:pPr>
            <a:r>
              <a:t>攻击者在训练数据中混入带触发器的样本</a:t>
            </a:r>
          </a:p>
          <a:p>
            <a:pPr>
              <a:spcAft>
                <a:spcPts val="680"/>
              </a:spcAft>
              <a:defRPr sz="1700" b="0">
                <a:solidFill>
                  <a:srgbClr val="E85D5D"/>
                </a:solidFill>
                <a:latin typeface="Microsoft YaHei"/>
              </a:defRPr>
            </a:pPr>
            <a:r>
              <a:t>正常图 -&gt; 正常分类  |  带触发器的图 -&gt; 攻击者指定的标签</a:t>
            </a:r>
          </a:p>
          <a:p>
            <a:pPr>
              <a:spcAft>
                <a:spcPts val="680"/>
              </a:spcAft>
              <a:defRPr sz="1700" b="0">
                <a:solidFill>
                  <a:srgbClr val="8A8F9A"/>
                </a:solidFill>
                <a:latin typeface="Microsoft YaHei"/>
              </a:defRPr>
            </a:pPr>
          </a:p>
          <a:p>
            <a:pPr>
              <a:spcAft>
                <a:spcPts val="680"/>
              </a:spcAft>
              <a:defRPr sz="1700" b="0">
                <a:solidFill>
                  <a:srgbClr val="8A8F9A"/>
                </a:solidFill>
                <a:latin typeface="Microsoft YaHei"/>
              </a:defRPr>
            </a:pPr>
            <a:r>
              <a:t>传统后门触发器: 可见图案 (白色方块, 水印, 正弦波纹)</a:t>
            </a:r>
          </a:p>
          <a:p>
            <a:pPr>
              <a:spcAft>
                <a:spcPts val="680"/>
              </a:spcAft>
              <a:defRPr sz="1700" b="0">
                <a:solidFill>
                  <a:srgbClr val="8A8F9A"/>
                </a:solidFill>
                <a:latin typeface="Microsoft YaHei"/>
              </a:defRPr>
            </a:pPr>
            <a:r>
              <a:t>问题: 人眼可察觉, 防御方法可检测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371600"/>
            <a:ext cx="2286000" cy="118872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10400" y="1498600"/>
            <a:ext cx="1981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BadNets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400" y="1803400"/>
            <a:ext cx="198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5D5D"/>
                </a:solidFill>
                <a:latin typeface="Microsoft YaHei"/>
              </a:defRPr>
            </a:pPr>
            <a:r>
              <a:t>白块Patch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400" y="2280920"/>
            <a:ext cx="19812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可见触发器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371600"/>
            <a:ext cx="2286000" cy="118872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70720" y="1498600"/>
            <a:ext cx="1981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Blend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70720" y="1803400"/>
            <a:ext cx="198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5D5D"/>
                </a:solidFill>
                <a:latin typeface="Microsoft YaHei"/>
              </a:defRPr>
            </a:pPr>
            <a:r>
              <a:t>叠加图案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70720" y="2280920"/>
            <a:ext cx="19812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可见触发器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2926080"/>
            <a:ext cx="4846320" cy="118872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0400" y="3053080"/>
            <a:ext cx="454152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共同问题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357880"/>
            <a:ext cx="454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9A96E"/>
                </a:solidFill>
                <a:latin typeface="Microsoft YaHei"/>
              </a:defRPr>
            </a:pPr>
            <a:r>
              <a:t>人眼可见+防御可检测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400" y="3835400"/>
            <a:ext cx="45415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需要更隐蔽的方式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5720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C9A96E"/>
                </a:solidFill>
                <a:latin typeface="Microsoft YaHei"/>
              </a:defRPr>
            </a:pPr>
            <a:r>
              <a:t>WaNet的答案: 用图像形变(Warping)替代可见触发器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WaNet: 基于图像形变的后门攻击 (ICLR 2021)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C9A96E"/>
                </a:solidFill>
                <a:latin typeface="Microsoft YaHei"/>
              </a:defRPr>
            </a:pPr>
            <a:r>
              <a:t>核心思想:</a:t>
            </a:r>
          </a:p>
          <a:p>
            <a:pPr>
              <a:spcAft>
                <a:spcPts val="640"/>
              </a:spcAft>
              <a:defRPr sz="1600" b="0">
                <a:solidFill>
                  <a:srgbClr val="F0EEE8"/>
                </a:solidFill>
                <a:latin typeface="Microsoft YaHei"/>
              </a:defRPr>
            </a:pPr>
            <a:r>
              <a:t>用图像空间形变(Warping)替代可见Patch作为后门触发器</a:t>
            </a:r>
          </a:p>
          <a:p>
            <a:pPr>
              <a:spcAft>
                <a:spcPts val="640"/>
              </a:spcAft>
              <a:defRPr sz="1600" b="0">
                <a:solidFill>
                  <a:srgbClr val="8A8F9A"/>
                </a:solidFill>
                <a:latin typeface="Microsoft YaHei"/>
              </a:defRPr>
            </a:pPr>
          </a:p>
          <a:p>
            <a:pPr>
              <a:spcAft>
                <a:spcPts val="640"/>
              </a:spcAft>
              <a:defRPr sz="1600" b="1">
                <a:solidFill>
                  <a:srgbClr val="C9A96E"/>
                </a:solidFill>
                <a:latin typeface="Microsoft YaHei"/>
              </a:defRPr>
            </a:pPr>
            <a:r>
              <a:t>怎么做:</a:t>
            </a:r>
          </a:p>
          <a:p>
            <a:pPr>
              <a:spcAft>
                <a:spcPts val="640"/>
              </a:spcAft>
              <a:defRPr sz="1600" b="0">
                <a:solidFill>
                  <a:srgbClr val="8A8F9A"/>
                </a:solidFill>
                <a:latin typeface="Microsoft YaHei"/>
              </a:defRPr>
            </a:pPr>
            <a:r>
              <a:t>1. 生成随机控制网格 (k*k)</a:t>
            </a:r>
          </a:p>
          <a:p>
            <a:pPr>
              <a:spcAft>
                <a:spcPts val="640"/>
              </a:spcAft>
              <a:defRPr sz="1600" b="0">
                <a:solidFill>
                  <a:srgbClr val="8A8F9A"/>
                </a:solidFill>
                <a:latin typeface="Microsoft YaHei"/>
              </a:defRPr>
            </a:pPr>
            <a:r>
              <a:t>2. 用网格定义平滑的像素位移场</a:t>
            </a:r>
          </a:p>
          <a:p>
            <a:pPr>
              <a:spcAft>
                <a:spcPts val="640"/>
              </a:spcAft>
              <a:defRPr sz="1600" b="0">
                <a:solidFill>
                  <a:srgbClr val="8A8F9A"/>
                </a:solidFill>
                <a:latin typeface="Microsoft YaHei"/>
              </a:defRPr>
            </a:pPr>
            <a:r>
              <a:t>3. 对图像做微小形变 -&gt; 后门样本 (人眼完全无法察觉)</a:t>
            </a:r>
          </a:p>
          <a:p>
            <a:pPr>
              <a:spcAft>
                <a:spcPts val="640"/>
              </a:spcAft>
              <a:defRPr sz="1600" b="0">
                <a:solidFill>
                  <a:srgbClr val="8A8F9A"/>
                </a:solidFill>
                <a:latin typeface="Microsoft YaHei"/>
              </a:defRPr>
            </a:pPr>
            <a:r>
              <a:t>4. 模型学到 '这种形变模式 = 目标标签'</a:t>
            </a:r>
          </a:p>
          <a:p>
            <a:pPr>
              <a:spcAft>
                <a:spcPts val="640"/>
              </a:spcAft>
              <a:defRPr sz="1600" b="0">
                <a:solidFill>
                  <a:srgbClr val="8A8F9A"/>
                </a:solidFill>
                <a:latin typeface="Microsoft YaHei"/>
              </a:defRPr>
            </a:pPr>
          </a:p>
          <a:p>
            <a:pPr>
              <a:spcAft>
                <a:spcPts val="640"/>
              </a:spcAft>
              <a:defRPr sz="1600" b="1">
                <a:solidFill>
                  <a:srgbClr val="C9A96E"/>
                </a:solidFill>
                <a:latin typeface="Microsoft YaHei"/>
              </a:defRPr>
            </a:pPr>
            <a:r>
              <a:t>关键设计: Noise Mode</a:t>
            </a:r>
          </a:p>
          <a:p>
            <a:pPr>
              <a:spcAft>
                <a:spcPts val="640"/>
              </a:spcAft>
              <a:defRPr sz="1600" b="0">
                <a:solidFill>
                  <a:srgbClr val="F0EEE8"/>
                </a:solidFill>
                <a:latin typeface="Microsoft YaHei"/>
              </a:defRPr>
            </a:pPr>
            <a:r>
              <a:t>训练时加入随机形变的噪声样本, 迫使模型学习真正的warping而不是像素捷径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645920"/>
            <a:ext cx="457200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5DC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10400" y="1772920"/>
            <a:ext cx="426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WaNet Warp效果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400" y="2077720"/>
            <a:ext cx="426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5DC88A"/>
                </a:solidFill>
                <a:latin typeface="Microsoft YaHei"/>
              </a:defRPr>
            </a:pPr>
            <a:r>
              <a:t>ASR = 99.15%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400" y="2738120"/>
            <a:ext cx="42672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人眼完全不可见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474720"/>
            <a:ext cx="457200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10400" y="3601720"/>
            <a:ext cx="426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绕过防御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0400" y="3906520"/>
            <a:ext cx="426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5D5D"/>
                </a:solidFill>
                <a:latin typeface="Microsoft YaHei"/>
              </a:defRPr>
            </a:pPr>
            <a:r>
              <a:t>STRIP/NC/FP全部失效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0400" y="4566920"/>
            <a:ext cx="42672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现有防御无法检测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我们的工作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00400" cy="22860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3920" y="1955800"/>
            <a:ext cx="28956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阶段一: 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920" y="2260600"/>
            <a:ext cx="289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A8F9A"/>
                </a:solidFill>
                <a:latin typeface="Microsoft YaHei"/>
              </a:defRPr>
            </a:pPr>
            <a:r>
              <a:t>周争妍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" y="3835400"/>
            <a:ext cx="28956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主实验+防御 STRIP/NC/FP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3数据集 x 2攻击模式</a:t>
            </a:r>
            <a:br/>
            <a:r>
              <a:t>确认WaNet能绕过所有三种防御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828800"/>
            <a:ext cx="3200400" cy="22860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2960" y="1955800"/>
            <a:ext cx="28956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阶段二: 消融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960" y="2260600"/>
            <a:ext cx="289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A8F9A"/>
                </a:solidFill>
                <a:latin typeface="Microsoft YaHei"/>
              </a:defRPr>
            </a:pPr>
            <a:r>
              <a:t>成员2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2960" y="3835400"/>
            <a:ext cx="28956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深入拆解Warping机制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01752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Noise Mode/s/k参数扫描</a:t>
            </a:r>
            <a:br/>
            <a:r>
              <a:t>发现参数高度敏感的规律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828800"/>
            <a:ext cx="3200400" cy="22860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0" y="1955800"/>
            <a:ext cx="28956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阶段三: 创新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2260600"/>
            <a:ext cx="289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9A96E"/>
                </a:solidFill>
                <a:latin typeface="Microsoft YaHei"/>
              </a:defRPr>
            </a:pPr>
            <a:r>
              <a:t>成员2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835400"/>
            <a:ext cx="28956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频域检测器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017520"/>
            <a:ext cx="2834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E8D5A3"/>
                </a:solidFill>
                <a:latin typeface="Microsoft YaHei"/>
              </a:defRPr>
            </a:pPr>
            <a:r>
              <a:t>Warping=插值-&gt;频域留痕</a:t>
            </a:r>
            <a:br/>
            <a:r>
              <a:t>设计频域后门检测器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1069848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0EEE8"/>
                </a:solidFill>
                <a:latin typeface="Microsoft YaHei"/>
              </a:defRPr>
            </a:pPr>
            <a:r>
              <a:t>核心贡献: 现有防御看[模型行为]-&gt;检测不到; 我们看[图像信号]-&gt;能检测到</a:t>
            </a:r>
            <a:br/>
            <a:r>
              <a:t>首次从频域角度揭示warping后门的可检测性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主实验复现结果 (CIFAR-10)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5DC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3920" y="1772920"/>
            <a:ext cx="225552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Clean Acc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920" y="2077720"/>
            <a:ext cx="225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5DC88A"/>
                </a:solidFill>
                <a:latin typeface="Microsoft YaHei"/>
              </a:defRPr>
            </a:pPr>
            <a:r>
              <a:t>92.84%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" y="2738120"/>
            <a:ext cx="22555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论文94.15%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256032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18560" y="1772920"/>
            <a:ext cx="225552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ASR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8560" y="2077720"/>
            <a:ext cx="225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5D5D"/>
                </a:solidFill>
                <a:latin typeface="Microsoft YaHei"/>
              </a:defRPr>
            </a:pPr>
            <a:r>
              <a:t>99.15%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8560" y="2738120"/>
            <a:ext cx="22555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论文99.55%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45920"/>
            <a:ext cx="256032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200" y="1772920"/>
            <a:ext cx="225552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Cross Acc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2077720"/>
            <a:ext cx="225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9A96E"/>
                </a:solidFill>
                <a:latin typeface="Microsoft YaHei"/>
              </a:defRPr>
            </a:pPr>
            <a:r>
              <a:t>89.71%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2738120"/>
            <a:ext cx="22555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论文93.55%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56032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840" y="1772920"/>
            <a:ext cx="225552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Cross(无Noise)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840" y="2077720"/>
            <a:ext cx="225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5D5D"/>
                </a:solidFill>
                <a:latin typeface="Microsoft YaHei"/>
              </a:defRPr>
            </a:pPr>
            <a:r>
              <a:t>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7840" y="2738120"/>
            <a:ext cx="22555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关键发现!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474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F0EEE8"/>
                </a:solidFill>
                <a:latin typeface="Microsoft YaHei"/>
              </a:defRPr>
            </a:pPr>
            <a:r>
              <a:t>防御验证结果:</a:t>
            </a:r>
          </a:p>
          <a:p>
            <a:pPr>
              <a:spcAft>
                <a:spcPts val="640"/>
              </a:spcAft>
              <a:defRPr sz="1600" b="0">
                <a:solidFill>
                  <a:srgbClr val="E85D5D"/>
                </a:solidFill>
                <a:latin typeface="Microsoft YaHei"/>
              </a:defRPr>
            </a:pPr>
            <a:r>
              <a:t>STRIP: Entropy分布无法区分clean/backdoor -&gt; 检测失败</a:t>
            </a:r>
          </a:p>
          <a:p>
            <a:pPr>
              <a:spcAft>
                <a:spcPts val="640"/>
              </a:spcAft>
              <a:defRPr sz="1600" b="0">
                <a:solidFill>
                  <a:srgbClr val="E85D5D"/>
                </a:solidFill>
                <a:latin typeface="Microsoft YaHei"/>
              </a:defRPr>
            </a:pPr>
            <a:r>
              <a:t>Fine-Pruning: 剪枝后ASR仍&gt;90% -&gt; 无法消除</a:t>
            </a:r>
          </a:p>
          <a:p>
            <a:pPr>
              <a:spcAft>
                <a:spcPts val="640"/>
              </a:spcAft>
              <a:defRPr sz="1600" b="0">
                <a:solidFill>
                  <a:srgbClr val="E85D5D"/>
                </a:solidFill>
                <a:latin typeface="Microsoft YaHei"/>
              </a:defRPr>
            </a:pPr>
            <a:r>
              <a:t>Neural Cleanse: Anomaly Index &lt; 2 -&gt; 检测不到</a:t>
            </a:r>
          </a:p>
          <a:p>
            <a:pPr>
              <a:spcAft>
                <a:spcPts val="640"/>
              </a:spcAft>
              <a:defRPr sz="1600" b="0">
                <a:solidFill>
                  <a:srgbClr val="8A8F9A"/>
                </a:solidFill>
                <a:latin typeface="Microsoft YaHei"/>
              </a:defRPr>
            </a:pPr>
          </a:p>
          <a:p>
            <a:pPr>
              <a:spcAft>
                <a:spcPts val="640"/>
              </a:spcAft>
              <a:defRPr sz="1600" b="1">
                <a:solidFill>
                  <a:srgbClr val="C9A96E"/>
                </a:solidFill>
                <a:latin typeface="Microsoft YaHei"/>
              </a:defRPr>
            </a:pPr>
            <a:r>
              <a:t>结论: WaNet确实能绕过所有三种现有防御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消融实验: Noise Mode的关键作用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18288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5DC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3920" y="1955800"/>
            <a:ext cx="47244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With Noise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920" y="2260600"/>
            <a:ext cx="472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5DC88A"/>
                </a:solidFill>
                <a:latin typeface="Microsoft YaHei"/>
              </a:defRPr>
            </a:pPr>
            <a:r>
              <a:t>Cross Acc = 89.71%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" y="3378200"/>
            <a:ext cx="47244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Neural Cleanse检测不到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029200" cy="18288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0320" y="1955800"/>
            <a:ext cx="47244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Without Noise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320" y="2260600"/>
            <a:ext cx="472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5D5D"/>
                </a:solidFill>
                <a:latin typeface="Microsoft YaHei"/>
              </a:defRPr>
            </a:pPr>
            <a:r>
              <a:t>Cross Acc = 0.00%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320" y="3378200"/>
            <a:ext cx="47244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Neural Cleanse能检测到!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0">
                <a:solidFill>
                  <a:srgbClr val="F0EEE8"/>
                </a:solidFill>
                <a:latin typeface="Microsoft YaHei"/>
              </a:defRPr>
            </a:pPr>
            <a:r>
              <a:t>结论: Noise Mode是WaNet绕过防御的决定性因素</a:t>
            </a:r>
            <a:br/>
            <a:r>
              <a:t>没有Noise Mode -&gt; 模型学到像素级捷径 -&gt; 被Neural Cleanse发现</a:t>
            </a:r>
            <a:br/>
            <a:r>
              <a:t>有Noise Mode -&gt; 模型被迫学习真正的warping变换 -&gt; 防御失效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消融实验: Warping参数敏感性分析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9A96E"/>
                </a:solidFill>
                <a:latin typeface="Microsoft YaHei"/>
              </a:defRPr>
            </a:pPr>
            <a:r>
              <a:t>Warping强度 s 的影响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37744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920" y="2321560"/>
            <a:ext cx="207264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s = 0.25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" y="2626360"/>
            <a:ext cx="207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5D5D"/>
                </a:solidFill>
                <a:latin typeface="Microsoft YaHei"/>
              </a:defRPr>
            </a:pPr>
            <a:r>
              <a:t>ASR 74%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920" y="3286760"/>
            <a:ext cx="20726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太弱-&gt;攻击失效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194560"/>
            <a:ext cx="237744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5DC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5680" y="2321560"/>
            <a:ext cx="207264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s = 0.50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5680" y="2626360"/>
            <a:ext cx="207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5DC88A"/>
                </a:solidFill>
                <a:latin typeface="Microsoft YaHei"/>
              </a:defRPr>
            </a:pPr>
            <a:r>
              <a:t>ASR 99.59%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680" y="3286760"/>
            <a:ext cx="20726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最优参数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194560"/>
            <a:ext cx="237744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7440" y="2321560"/>
            <a:ext cx="207264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s = 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440" y="2626360"/>
            <a:ext cx="207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A8F9A"/>
                </a:solidFill>
                <a:latin typeface="Microsoft YaHei"/>
              </a:defRPr>
            </a:pPr>
            <a:r>
              <a:t>ASR 98.29%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440" y="3286760"/>
            <a:ext cx="20726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性能饱和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9A96E"/>
                </a:solidFill>
                <a:latin typeface="Microsoft YaHei"/>
              </a:defRPr>
            </a:pPr>
            <a:r>
              <a:t>网格大小 k 的影响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237744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20" y="4516120"/>
            <a:ext cx="207264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k =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20" y="4820920"/>
            <a:ext cx="207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5D5D"/>
                </a:solidFill>
                <a:latin typeface="Microsoft YaHei"/>
              </a:defRPr>
            </a:pPr>
            <a:r>
              <a:t>ASR 92.82%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20" y="5481320"/>
            <a:ext cx="20726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太粗-&gt;被当噪声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389120"/>
            <a:ext cx="237744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5DC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35680" y="4516120"/>
            <a:ext cx="207264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k =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5680" y="4820920"/>
            <a:ext cx="207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5DC88A"/>
                </a:solidFill>
                <a:latin typeface="Microsoft YaHei"/>
              </a:defRPr>
            </a:pPr>
            <a:r>
              <a:t>ASR 99.15%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5680" y="5481320"/>
            <a:ext cx="20726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最优参数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4389120"/>
            <a:ext cx="237744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87440" y="4516120"/>
            <a:ext cx="207264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k =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440" y="4820920"/>
            <a:ext cx="2072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A8F9A"/>
                </a:solidFill>
                <a:latin typeface="Microsoft YaHei"/>
              </a:defRPr>
            </a:pPr>
            <a:r>
              <a:t>ASR 97.55%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7440" y="5481320"/>
            <a:ext cx="207264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性能饱和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1828800"/>
            <a:ext cx="256032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E8D5A3"/>
                </a:solidFill>
                <a:latin typeface="Microsoft YaHei"/>
              </a:defRPr>
            </a:pPr>
            <a:r>
              <a:t>关键发现</a:t>
            </a:r>
            <a:br/>
            <a:br/>
            <a:r>
              <a:t>WaNet对参数</a:t>
            </a:r>
            <a:br/>
            <a:r>
              <a:t>高度敏感</a:t>
            </a:r>
            <a:br/>
            <a:br/>
            <a:r>
              <a:t>s&lt;0.5或k&lt;4时</a:t>
            </a:r>
            <a:br/>
            <a:r>
              <a:t>攻击大幅下降</a:t>
            </a:r>
            <a:br/>
            <a:br/>
            <a:r>
              <a:t>存在狭窄的</a:t>
            </a:r>
            <a:br/>
            <a:r>
              <a:t>有效参数区间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核心洞察: Warping在频域留下痕迹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 b="0">
                <a:solidFill>
                  <a:srgbClr val="8A8F9A"/>
                </a:solidFill>
                <a:latin typeface="Microsoft YaHei"/>
              </a:defRPr>
            </a:pPr>
            <a:r>
              <a:t>消融实验揭示了一个重要线索:</a:t>
            </a:r>
          </a:p>
          <a:p>
            <a:pPr>
              <a:spcAft>
                <a:spcPts val="720"/>
              </a:spcAft>
              <a:defRPr sz="1800" b="1">
                <a:solidFill>
                  <a:srgbClr val="C9A96E"/>
                </a:solidFill>
                <a:latin typeface="Microsoft YaHei"/>
              </a:defRPr>
            </a:pPr>
            <a:r>
              <a:t>Warping = grid_sample + bilinear interpolation</a:t>
            </a:r>
          </a:p>
          <a:p>
            <a:pPr>
              <a:spcAft>
                <a:spcPts val="720"/>
              </a:spcAft>
              <a:defRPr sz="1800" b="0">
                <a:solidFill>
                  <a:srgbClr val="8A8F9A"/>
                </a:solidFill>
                <a:latin typeface="Microsoft YaHei"/>
              </a:defRPr>
            </a:pPr>
          </a:p>
          <a:p>
            <a:pPr>
              <a:spcAft>
                <a:spcPts val="720"/>
              </a:spcAft>
              <a:defRPr sz="1800" b="1">
                <a:solidFill>
                  <a:srgbClr val="F0EEE8"/>
                </a:solidFill>
                <a:latin typeface="Microsoft YaHei"/>
              </a:defRPr>
            </a:pPr>
            <a:r>
              <a:t>插值运算 = 信号处理 -&gt; 必然在频域留下痕迹!</a:t>
            </a:r>
          </a:p>
          <a:p>
            <a:pPr>
              <a:spcAft>
                <a:spcPts val="720"/>
              </a:spcAft>
              <a:defRPr sz="1800" b="0">
                <a:solidFill>
                  <a:srgbClr val="8A8F9A"/>
                </a:solidFill>
                <a:latin typeface="Microsoft YaHei"/>
              </a:defRPr>
            </a:pPr>
          </a:p>
          <a:p>
            <a:pPr>
              <a:spcAft>
                <a:spcPts val="720"/>
              </a:spcAft>
              <a:defRPr sz="1800" b="0">
                <a:solidFill>
                  <a:srgbClr val="8A8F9A"/>
                </a:solidFill>
                <a:latin typeface="Microsoft YaHei"/>
              </a:defRPr>
            </a:pPr>
            <a:r>
              <a:t>这个发现指向了一个全新的检测思路:</a:t>
            </a:r>
          </a:p>
          <a:p>
            <a:pPr>
              <a:spcAft>
                <a:spcPts val="720"/>
              </a:spcAft>
              <a:defRPr sz="1800" b="0">
                <a:solidFill>
                  <a:srgbClr val="8A8F9A"/>
                </a:solidFill>
                <a:latin typeface="Microsoft YaHei"/>
              </a:defRPr>
            </a:pPr>
          </a:p>
          <a:p>
            <a:pPr>
              <a:spcAft>
                <a:spcPts val="720"/>
              </a:spcAft>
              <a:defRPr sz="1800" b="0">
                <a:solidFill>
                  <a:srgbClr val="E85D5D"/>
                </a:solidFill>
                <a:latin typeface="Microsoft YaHei"/>
              </a:defRPr>
            </a:pPr>
            <a:r>
              <a:t>现有防御: 看模型输出(logits/梯度) -&gt; 检测不到WaNet</a:t>
            </a:r>
          </a:p>
          <a:p>
            <a:pPr>
              <a:spcAft>
                <a:spcPts val="720"/>
              </a:spcAft>
              <a:defRPr sz="1800" b="1">
                <a:solidFill>
                  <a:srgbClr val="5DC88A"/>
                </a:solidFill>
                <a:latin typeface="Microsoft YaHei"/>
              </a:defRPr>
            </a:pPr>
            <a:r>
              <a:t>我们的方法: 看图像频域(FFT频谱) -&gt; 能检测到!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828800"/>
            <a:ext cx="4572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E8D5A3"/>
                </a:solidFill>
                <a:latin typeface="Microsoft YaHei"/>
              </a:defRPr>
            </a:pPr>
            <a:r>
              <a:t>Warping的本质</a:t>
            </a:r>
            <a:br/>
            <a:br/>
            <a:r>
              <a:t>grid_sample对图像</a:t>
            </a:r>
            <a:br/>
            <a:r>
              <a:t>做双线性插值</a:t>
            </a:r>
            <a:br/>
            <a:br/>
            <a:r>
              <a:t>每个插值点 = 周围像素</a:t>
            </a:r>
            <a:br/>
            <a:r>
              <a:t>的加权平均</a:t>
            </a:r>
            <a:br/>
            <a:br/>
            <a:r>
              <a:t>-&gt; 频域高频分量异常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1069848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C9A96E"/>
                </a:solidFill>
                <a:latin typeface="Microsoft YaHei"/>
              </a:defRPr>
            </a:pPr>
            <a:r>
              <a:t>这是一个论文没有探讨过的维度: 不可感知 != 不可检测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频域Warping检测器设计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011680" cy="18288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3920" y="1955800"/>
            <a:ext cx="170688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Step 1: 生成图像对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920" y="2260600"/>
            <a:ext cx="1706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A8F9A"/>
                </a:solidFill>
                <a:latin typeface="Microsoft YaHei"/>
              </a:defRPr>
            </a:pPr>
            <a:r>
              <a:t>Clean + Warped</a:t>
            </a:r>
            <a:br/>
            <a:r>
              <a:t>各500张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C9A96E"/>
                </a:solidFill>
                <a:latin typeface="Microsoft YaHei"/>
              </a:defRPr>
            </a:pPr>
            <a:r>
              <a:t>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1828800"/>
            <a:ext cx="2011680" cy="18288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9920" y="1955800"/>
            <a:ext cx="170688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Step 2: FFT变换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9920" y="2260600"/>
            <a:ext cx="1706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A8F9A"/>
                </a:solidFill>
                <a:latin typeface="Microsoft YaHei"/>
              </a:defRPr>
            </a:pPr>
            <a:r>
              <a:t>傅里叶变换</a:t>
            </a:r>
            <a:br/>
            <a:r>
              <a:t>-&gt;频谱图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C9A96E"/>
                </a:solidFill>
                <a:latin typeface="Microsoft YaHei"/>
              </a:defRPr>
            </a:pPr>
            <a: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1828800"/>
            <a:ext cx="2011680" cy="18288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55920" y="1955800"/>
            <a:ext cx="170688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Step 3: 特征提取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5920" y="2260600"/>
            <a:ext cx="1706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A8F9A"/>
                </a:solidFill>
                <a:latin typeface="Microsoft YaHei"/>
              </a:defRPr>
            </a:pPr>
            <a:r>
              <a:t>高频能量比</a:t>
            </a:r>
            <a:br/>
            <a:r>
              <a:t>频谱熵等6维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C9A96E"/>
                </a:solidFill>
                <a:latin typeface="Microsoft YaHei"/>
              </a:defRPr>
            </a:pPr>
            <a:r>
              <a:t>-&gt;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828800"/>
            <a:ext cx="2011680" cy="18288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41920" y="1955800"/>
            <a:ext cx="170688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Step 4: SVM分类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1920" y="2260600"/>
            <a:ext cx="1706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A8F9A"/>
                </a:solidFill>
                <a:latin typeface="Microsoft YaHei"/>
              </a:defRPr>
            </a:pPr>
            <a:r>
              <a:t>RBF核SVM</a:t>
            </a:r>
            <a:br/>
            <a:r>
              <a:t>30%测试集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56032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C9A96E"/>
                </a:solidFill>
                <a:latin typeface="Microsoft YaHei"/>
              </a:defRPr>
            </a:pPr>
            <a:r>
              <a:t>-&gt;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0" y="1828800"/>
            <a:ext cx="2011680" cy="18288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27920" y="1955800"/>
            <a:ext cx="170688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Step 5: 评估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27920" y="2260600"/>
            <a:ext cx="1706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9A96E"/>
                </a:solidFill>
                <a:latin typeface="Microsoft YaHei"/>
              </a:defRPr>
            </a:pPr>
            <a:r>
              <a:t>ROC曲线</a:t>
            </a:r>
            <a:br/>
            <a:r>
              <a:t>vs STRIP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114800"/>
            <a:ext cx="502920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3DB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3920" y="4241800"/>
            <a:ext cx="47244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6维频域特征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920" y="4546600"/>
            <a:ext cx="472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3DB8B0"/>
                </a:solidFill>
                <a:latin typeface="Microsoft YaHei"/>
              </a:defRPr>
            </a:pPr>
            <a:r>
              <a:t>高频能量比 / 频谱熵 / 均值频率 / 方差频率 / 低频能量比 / 中频能量比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114800"/>
            <a:ext cx="5029200" cy="13716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5DC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0320" y="4241800"/>
            <a:ext cx="47244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检测结果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320" y="4546600"/>
            <a:ext cx="472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5DC88A"/>
                </a:solidFill>
                <a:latin typeface="Microsoft YaHei"/>
              </a:defRPr>
            </a:pPr>
            <a:r>
              <a:t>准确率 67.33%  |  AUC 0.735  |  STRIP AUC=0.50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频域可视化: Clean vs Warped 频谱对比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0F1F3D"/>
          </a:solidFill>
          <a:ln w="1270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3120" y="16967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8A8F9A"/>
                </a:solidFill>
                <a:latin typeface="Microsoft YaHei"/>
              </a:defRPr>
            </a:pPr>
            <a:r>
              <a:t>Clean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2103120"/>
          </a:xfrm>
          <a:prstGeom prst="roundRect">
            <a:avLst/>
          </a:prstGeom>
          <a:solidFill>
            <a:srgbClr val="0F1F3D"/>
          </a:solidFill>
          <a:ln w="1270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90720" y="16967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8A8F9A"/>
                </a:solidFill>
                <a:latin typeface="Microsoft YaHei"/>
              </a:defRPr>
            </a:pPr>
            <a:r>
              <a:t>Clean FFT Spectrum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2103120"/>
          </a:xfrm>
          <a:prstGeom prst="roundRect">
            <a:avLst/>
          </a:prstGeom>
          <a:solidFill>
            <a:srgbClr val="0F1F3D"/>
          </a:solidFill>
          <a:ln w="1270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8320" y="16967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8A8F9A"/>
                </a:solidFill>
                <a:latin typeface="Microsoft YaHei"/>
              </a:defRPr>
            </a:pPr>
            <a:r>
              <a:t>Clean Radial Profile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3383280" cy="2103120"/>
          </a:xfrm>
          <a:prstGeom prst="roundRect">
            <a:avLst/>
          </a:prstGeom>
          <a:solidFill>
            <a:srgbClr val="0F1F3D"/>
          </a:solidFill>
          <a:ln w="1270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120" y="4074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8A8F9A"/>
                </a:solidFill>
                <a:latin typeface="Microsoft YaHei"/>
              </a:defRPr>
            </a:pPr>
            <a:r>
              <a:t>Warped Image (Backdoor)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023360"/>
            <a:ext cx="3383280" cy="2103120"/>
          </a:xfrm>
          <a:prstGeom prst="roundRect">
            <a:avLst/>
          </a:prstGeom>
          <a:solidFill>
            <a:srgbClr val="0F1F3D"/>
          </a:solidFill>
          <a:ln w="12700">
            <a:solidFill>
              <a:srgbClr val="8A8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0720" y="4074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8A8F9A"/>
                </a:solidFill>
                <a:latin typeface="Microsoft YaHei"/>
              </a:defRPr>
            </a:pPr>
            <a:r>
              <a:t>Warped FFT Spectrum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4023360"/>
            <a:ext cx="3383280" cy="2103120"/>
          </a:xfrm>
          <a:prstGeom prst="roundRect">
            <a:avLst/>
          </a:prstGeom>
          <a:solidFill>
            <a:srgbClr val="0F1F3D"/>
          </a:solidFill>
          <a:ln w="1270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8320" y="4074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C9A96E"/>
                </a:solidFill>
                <a:latin typeface="Microsoft YaHei"/>
              </a:defRPr>
            </a:pPr>
            <a:r>
              <a:t>FFT Difference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C9A96E"/>
                </a:solidFill>
                <a:latin typeface="Microsoft YaHei"/>
              </a:defRPr>
            </a:pPr>
            <a:r>
              <a:t>插入 results/freq_detector/fft_spectrum_comparison.png  |  注意右下角: 差异图有明显结构化异常!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检测性能对比: 频域检测器 vs STRIP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18288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5DC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3920" y="1955800"/>
            <a:ext cx="316992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频域检测器 (Ours)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920" y="2260600"/>
            <a:ext cx="316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5DC88A"/>
                </a:solidFill>
                <a:latin typeface="Microsoft YaHei"/>
              </a:defRPr>
            </a:pPr>
            <a:r>
              <a:t>AUC = 0.735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" y="3378200"/>
            <a:ext cx="31699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准确率 67.33%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828800"/>
            <a:ext cx="3474720" cy="18288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E8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24400" y="1955800"/>
            <a:ext cx="316992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STRIP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4400" y="2260600"/>
            <a:ext cx="316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5D5D"/>
                </a:solidFill>
                <a:latin typeface="Microsoft YaHei"/>
              </a:defRPr>
            </a:pPr>
            <a:r>
              <a:t>AUC = 0.50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3378200"/>
            <a:ext cx="316992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等同随机猜测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828800"/>
            <a:ext cx="3200400" cy="1828800"/>
          </a:xfrm>
          <a:prstGeom prst="roundRect">
            <a:avLst/>
          </a:prstGeom>
          <a:solidFill>
            <a:srgbClr val="0F1F3D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4880" y="1955800"/>
            <a:ext cx="28956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8A8F9A"/>
                </a:solidFill>
                <a:latin typeface="Microsoft YaHei"/>
              </a:defRPr>
            </a:pPr>
            <a:r>
              <a:t>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4880" y="2260600"/>
            <a:ext cx="289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C9A96E"/>
                </a:solidFill>
                <a:latin typeface="Microsoft YaHei"/>
              </a:defRPr>
            </a:pPr>
            <a:r>
              <a:t>+23.5% 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4880" y="3378200"/>
            <a:ext cx="2895600" cy="20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8A8F9A"/>
                </a:solidFill>
                <a:latin typeface="Microsoft YaHei"/>
              </a:defRPr>
            </a:pPr>
            <a:r>
              <a:t>远超随机基线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8A8F9A"/>
                </a:solidFill>
                <a:latin typeface="Microsoft YaHei"/>
              </a:defRPr>
            </a:pPr>
            <a:r>
              <a:t>插入 results/freq_detector/roc_curve.png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F0EEE8"/>
                </a:solidFill>
                <a:latin typeface="Microsoft YaHei"/>
              </a:defRPr>
            </a:pPr>
            <a:r>
              <a:t>STRIP看模型输出熵 -&gt; 无法区分Clean/Warped (AUC=0.50)</a:t>
            </a:r>
            <a:br/>
            <a:r>
              <a:t>我们的频域检测器看图像信号 -&gt; 能有效检测 (AUC=0.735)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2286000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0EEE8"/>
                </a:solidFill>
                <a:latin typeface="Microsoft YaHei"/>
              </a:defRPr>
            </a:pPr>
            <a:r>
              <a:t>全部实验结果汇总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9901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A1628"/>
                          </a:solidFill>
                          <a:latin typeface="Microsoft YaHei"/>
                        </a:defRPr>
                      </a:pPr>
                      <a:r>
                        <a:t>Epochs</a:t>
                      </a:r>
                    </a:p>
                  </a:txBody>
                  <a:tcPr>
                    <a:solidFill>
                      <a:srgbClr val="C9A9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A1628"/>
                          </a:solidFill>
                          <a:latin typeface="Microsoft YaHe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C9A9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A1628"/>
                          </a:solidFill>
                          <a:latin typeface="Microsoft YaHei"/>
                        </a:defRPr>
                      </a:pPr>
                      <a:r>
                        <a:t>Clean Acc</a:t>
                      </a:r>
                    </a:p>
                  </a:txBody>
                  <a:tcPr>
                    <a:solidFill>
                      <a:srgbClr val="C9A9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A1628"/>
                          </a:solidFill>
                          <a:latin typeface="Microsoft YaHei"/>
                        </a:defRPr>
                      </a:pPr>
                      <a:r>
                        <a:t>ASR</a:t>
                      </a:r>
                    </a:p>
                  </a:txBody>
                  <a:tcPr>
                    <a:solidFill>
                      <a:srgbClr val="C9A9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A1628"/>
                          </a:solidFill>
                          <a:latin typeface="Microsoft YaHei"/>
                        </a:defRPr>
                      </a:pPr>
                      <a:r>
                        <a:t>Cross Acc</a:t>
                      </a:r>
                    </a:p>
                  </a:txBody>
                  <a:tcPr>
                    <a:solidFill>
                      <a:srgbClr val="C9A9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A1628"/>
                          </a:solidFill>
                          <a:latin typeface="Microsoft YaHei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C9A96E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Noise WITH (baseline)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92.84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99.15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89.71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Noise WITHOUT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92.74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98.21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Noise is KEY!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s=0.25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92.39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74.12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89.38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s too small -&gt; fail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s=0.50 (best)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92.81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99.59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89.69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Optimal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s=1.00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98.29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89.30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Saturation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k=2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92.14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92.82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88.95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0EEE8"/>
                          </a:solidFill>
                          <a:latin typeface="Microsoft YaHei"/>
                        </a:defRPr>
                      </a:pPr>
                      <a:r>
                        <a:t>k too small -&gt; weak</a:t>
                      </a:r>
                    </a:p>
                  </a:txBody>
                  <a:tcPr>
                    <a:solidFill>
                      <a:srgbClr val="1A2D5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k=4 (best)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92.84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99.15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89.71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Optimal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k=8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91.94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97.55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88.04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Saturation</a:t>
                      </a:r>
                    </a:p>
                  </a:txBody>
                  <a:tcPr/>
                </a:tc>
              </a:tr>
              <a:tr h="39901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Seed=0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92.81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99.59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89.69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Stable</a:t>
                      </a:r>
                    </a:p>
                  </a:txBody>
                  <a:tcPr/>
                </a:tc>
              </a:tr>
              <a:tr h="3990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Seed=1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92.10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98.70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88.72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8A8F9A"/>
                          </a:solidFill>
                          <a:latin typeface="Microsoft YaHei"/>
                        </a:defRPr>
                      </a:pPr>
                      <a:r>
                        <a:t>Stable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1371600"/>
            <a:ext cx="8534095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5340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0EEE8"/>
                </a:solidFill>
                <a:latin typeface="Microsoft YaHei"/>
              </a:defRPr>
            </a:pPr>
            <a: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5DC88A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27432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0EEE8"/>
                </a:solidFill>
                <a:latin typeface="Microsoft YaHei"/>
              </a:defRPr>
            </a:pPr>
            <a:r>
              <a:t>WaNet攻击高度有效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31546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8A8F9A"/>
                </a:solidFill>
                <a:latin typeface="Microsoft YaHei"/>
              </a:defRPr>
            </a:pPr>
            <a:r>
              <a:t>CIFAR-10上ASR达99.15%, 同时保持92.84%正常精度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657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9A96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36576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0EEE8"/>
                </a:solidFill>
                <a:latin typeface="Microsoft YaHei"/>
              </a:defRPr>
            </a:pPr>
            <a:r>
              <a:t>Noise Mode是绕过防御的关键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4069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8A8F9A"/>
                </a:solidFill>
                <a:latin typeface="Microsoft YaHei"/>
              </a:defRPr>
            </a:pPr>
            <a:r>
              <a:t>无Noise时Cross Acc=0%, 后门可被Neural Cleanse检测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5720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85D5D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5720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0EEE8"/>
                </a:solidFill>
                <a:latin typeface="Microsoft YaHei"/>
              </a:defRPr>
            </a:pPr>
            <a:r>
              <a:t>Warping参数高度敏感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49834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8A8F9A"/>
                </a:solidFill>
                <a:latin typeface="Microsoft YaHei"/>
              </a:defRPr>
            </a:pPr>
            <a:r>
              <a:t>s&lt;0.5或k&lt;4时攻击效果大幅下降 -- 存在狭窄有效区间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4864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5DC88A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54864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F0EEE8"/>
                </a:solidFill>
                <a:latin typeface="Microsoft YaHei"/>
              </a:defRPr>
            </a:pPr>
            <a:r>
              <a:t>频域检测: 我们的创新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58978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8A8F9A"/>
                </a:solidFill>
                <a:latin typeface="Microsoft YaHei"/>
              </a:defRPr>
            </a:pPr>
            <a:r>
              <a:t>首次从图像信号层面检测warping后门, AUC 0.735远超STRIP 0.50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6217920"/>
            <a:ext cx="8534095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743200"/>
            <a:ext cx="8534095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3017520"/>
            <a:ext cx="85340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0EEE8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534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C9A96E"/>
                </a:solidFill>
                <a:latin typeface="Microsoft YaHei"/>
              </a:defRPr>
            </a:pPr>
            <a:r>
              <a:t>WaNet复现与分析 | AI安全课程设计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84632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>
                <a:solidFill>
                  <a:srgbClr val="8A8F9A"/>
                </a:solidFill>
                <a:latin typeface="Microsoft YaHei"/>
              </a:defRPr>
            </a:pPr>
            <a:r>
              <a:t>github.com/axgo-ja/NIS3353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5669280"/>
            <a:ext cx="8534095" cy="254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