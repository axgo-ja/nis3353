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6" userDrawn="1">
          <p15:clr>
            <a:srgbClr val="A4A3A4"/>
          </p15:clr>
        </p15:guide>
        <p15:guide id="2" pos="282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A4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6"/>
        <p:guide pos="282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7.xml"/><Relationship Id="rId8" Type="http://schemas.openxmlformats.org/officeDocument/2006/relationships/tags" Target="../tags/tag16.xml"/><Relationship Id="rId7" Type="http://schemas.openxmlformats.org/officeDocument/2006/relationships/tags" Target="../tags/tag15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6" Type="http://schemas.openxmlformats.org/officeDocument/2006/relationships/slideLayout" Target="../slideLayouts/slideLayout7.xml"/><Relationship Id="rId15" Type="http://schemas.openxmlformats.org/officeDocument/2006/relationships/tags" Target="../tags/tag23.xml"/><Relationship Id="rId14" Type="http://schemas.openxmlformats.org/officeDocument/2006/relationships/tags" Target="../tags/tag22.xml"/><Relationship Id="rId13" Type="http://schemas.openxmlformats.org/officeDocument/2006/relationships/tags" Target="../tags/tag21.xml"/><Relationship Id="rId12" Type="http://schemas.openxmlformats.org/officeDocument/2006/relationships/tags" Target="../tags/tag20.xml"/><Relationship Id="rId11" Type="http://schemas.openxmlformats.org/officeDocument/2006/relationships/tags" Target="../tags/tag19.xml"/><Relationship Id="rId10" Type="http://schemas.openxmlformats.org/officeDocument/2006/relationships/tags" Target="../tags/tag18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tags" Target="../tags/tag24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43.xml"/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tags" Target="../tags/tag46.xml"/><Relationship Id="rId27" Type="http://schemas.openxmlformats.org/officeDocument/2006/relationships/slideLayout" Target="../slideLayouts/slideLayout7.xml"/><Relationship Id="rId26" Type="http://schemas.openxmlformats.org/officeDocument/2006/relationships/tags" Target="../tags/tag69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tags" Target="../tags/tag65.xml"/><Relationship Id="rId21" Type="http://schemas.openxmlformats.org/officeDocument/2006/relationships/tags" Target="../tags/tag64.xml"/><Relationship Id="rId20" Type="http://schemas.openxmlformats.org/officeDocument/2006/relationships/tags" Target="../tags/tag63.xml"/><Relationship Id="rId2" Type="http://schemas.openxmlformats.org/officeDocument/2006/relationships/tags" Target="../tags/tag45.xml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tags" Target="../tags/tag57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tags" Target="../tags/tag4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7" Type="http://schemas.openxmlformats.org/officeDocument/2006/relationships/slideLayout" Target="../slideLayouts/slideLayout7.xml"/><Relationship Id="rId16" Type="http://schemas.openxmlformats.org/officeDocument/2006/relationships/tags" Target="../tags/tag85.xml"/><Relationship Id="rId15" Type="http://schemas.openxmlformats.org/officeDocument/2006/relationships/tags" Target="../tags/tag84.xml"/><Relationship Id="rId14" Type="http://schemas.openxmlformats.org/officeDocument/2006/relationships/tags" Target="../tags/tag83.xml"/><Relationship Id="rId13" Type="http://schemas.openxmlformats.org/officeDocument/2006/relationships/tags" Target="../tags/tag82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94.xml"/><Relationship Id="rId8" Type="http://schemas.openxmlformats.org/officeDocument/2006/relationships/tags" Target="../tags/tag93.xml"/><Relationship Id="rId7" Type="http://schemas.openxmlformats.org/officeDocument/2006/relationships/tags" Target="../tags/tag92.xml"/><Relationship Id="rId6" Type="http://schemas.openxmlformats.org/officeDocument/2006/relationships/tags" Target="../tags/tag91.xml"/><Relationship Id="rId5" Type="http://schemas.openxmlformats.org/officeDocument/2006/relationships/tags" Target="../tags/tag90.xml"/><Relationship Id="rId4" Type="http://schemas.openxmlformats.org/officeDocument/2006/relationships/tags" Target="../tags/tag89.xml"/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11" Type="http://schemas.openxmlformats.org/officeDocument/2006/relationships/tags" Target="../tags/tag96.xml"/><Relationship Id="rId10" Type="http://schemas.openxmlformats.org/officeDocument/2006/relationships/tags" Target="../tags/tag95.xml"/><Relationship Id="rId1" Type="http://schemas.openxmlformats.org/officeDocument/2006/relationships/tags" Target="../tags/tag8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105.xml"/><Relationship Id="rId8" Type="http://schemas.openxmlformats.org/officeDocument/2006/relationships/tags" Target="../tags/tag104.xml"/><Relationship Id="rId7" Type="http://schemas.openxmlformats.org/officeDocument/2006/relationships/tags" Target="../tags/tag103.xml"/><Relationship Id="rId6" Type="http://schemas.openxmlformats.org/officeDocument/2006/relationships/tags" Target="../tags/tag102.xml"/><Relationship Id="rId5" Type="http://schemas.openxmlformats.org/officeDocument/2006/relationships/tags" Target="../tags/tag101.xml"/><Relationship Id="rId4" Type="http://schemas.openxmlformats.org/officeDocument/2006/relationships/tags" Target="../tags/tag100.xml"/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108.xml"/><Relationship Id="rId11" Type="http://schemas.openxmlformats.org/officeDocument/2006/relationships/tags" Target="../tags/tag107.xml"/><Relationship Id="rId10" Type="http://schemas.openxmlformats.org/officeDocument/2006/relationships/tags" Target="../tags/tag106.xml"/><Relationship Id="rId1" Type="http://schemas.openxmlformats.org/officeDocument/2006/relationships/tags" Target="../tags/tag97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116.xml"/><Relationship Id="rId7" Type="http://schemas.openxmlformats.org/officeDocument/2006/relationships/tags" Target="../tags/tag115.xml"/><Relationship Id="rId6" Type="http://schemas.openxmlformats.org/officeDocument/2006/relationships/tags" Target="../tags/tag114.xml"/><Relationship Id="rId5" Type="http://schemas.openxmlformats.org/officeDocument/2006/relationships/tags" Target="../tags/tag113.xml"/><Relationship Id="rId4" Type="http://schemas.openxmlformats.org/officeDocument/2006/relationships/tags" Target="../tags/tag112.xml"/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tags" Target="../tags/tag10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3139605" y="1721485"/>
            <a:ext cx="5912485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sz="3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Warping后门攻击的频域弱点</a:t>
            </a:r>
            <a:endParaRPr sz="3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45813" y="2755265"/>
            <a:ext cx="3100070" cy="9531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800">
                <a:solidFill>
                  <a:schemeClr val="tx1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WaNet 复现与分析</a:t>
            </a:r>
            <a:endParaRPr sz="2800">
              <a:solidFill>
                <a:schemeClr val="tx1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 algn="ctr">
              <a:defRPr sz="20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800">
                <a:solidFill>
                  <a:schemeClr val="tx1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AI安全课程设计</a:t>
            </a:r>
            <a:endParaRPr sz="2800">
              <a:solidFill>
                <a:schemeClr val="tx1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0" y="4119880"/>
            <a:ext cx="6705295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4"/>
          <p:cNvSpPr txBox="1"/>
          <p:nvPr/>
        </p:nvSpPr>
        <p:spPr>
          <a:xfrm>
            <a:off x="5020476" y="4571365"/>
            <a:ext cx="2136775" cy="460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蒋竺君</a:t>
            </a:r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  <a:sym typeface="+mn-ea"/>
              </a:rPr>
              <a:t> 周争妍</a:t>
            </a:r>
            <a:r>
              <a:rPr sz="9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  <a:sym typeface="+mn-ea"/>
              </a:rPr>
              <a:t> </a:t>
            </a:r>
            <a:endParaRPr sz="9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86321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什么是后门攻击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39595"/>
            <a:ext cx="5029200" cy="3056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深度学习模型在训练阶段可被植入后门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1">
                <a:solidFill>
                  <a:srgbClr val="3D3D3D"/>
                </a:solidFill>
                <a:latin typeface="微软雅黑" panose="020B0503020204020204" charset="-122"/>
              </a:defRPr>
            </a:pP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tx1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攻击者在训练数据中混入带触发器的样本</a:t>
            </a:r>
            <a:endParaRPr sz="2000">
              <a:solidFill>
                <a:schemeClr val="tx1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正常图 -&gt; 正常分类 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带触发器的图 -&gt; 攻击者指定标签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endParaRPr sz="2000">
              <a:solidFill>
                <a:schemeClr val="tx1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tx1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传统触发器: 白色方块 / 水印 / 正弦波纹</a:t>
            </a:r>
            <a:endParaRPr sz="2000">
              <a:solidFill>
                <a:schemeClr val="tx1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-&gt; 防御方法 (STRIP / N</a:t>
            </a:r>
            <a:r>
              <a:rPr lang="en-US"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C/FP</a:t>
            </a: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) 可以检测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613525" y="1656715"/>
            <a:ext cx="2286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1325" y="1972310"/>
            <a:ext cx="193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白色Patch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73845" y="1656715"/>
            <a:ext cx="2286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1645" y="1972310"/>
            <a:ext cx="193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叠加图案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613525" y="3211195"/>
            <a:ext cx="4846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1325" y="3526790"/>
            <a:ext cx="449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人眼可见 + 防御可检测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13525" y="4857115"/>
            <a:ext cx="497713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WaNet的答案: 用图像形变替代可见Patch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726430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WaNet: 基于图像形变的后门攻击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Nguyen &amp; Tran, ICLR 2021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78635"/>
            <a:ext cx="6193790" cy="4204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核心思想: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用图像空间形变(Warping)替代可见Patch作为后门触发器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怎么做: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solidFill>
                  <a:schemeClr val="tx1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1. 生成 k*k 随机控制网格, 定义平滑的像素位移场</a:t>
            </a:r>
            <a:endParaRPr sz="1800">
              <a:solidFill>
                <a:schemeClr val="tx1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solidFill>
                  <a:schemeClr val="tx1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2. 对图像做微小形变 (亚像素级) -&gt; 后门样本</a:t>
            </a:r>
            <a:endParaRPr sz="1800">
              <a:solidFill>
                <a:schemeClr val="tx1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solidFill>
                  <a:schemeClr val="tx1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3. 模型学到该形变模式与目标标签的关联</a:t>
            </a:r>
            <a:endParaRPr sz="1800">
              <a:solidFill>
                <a:schemeClr val="tx1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sz="1800">
                <a:solidFill>
                  <a:schemeClr val="tx1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4. 人眼完全无法察觉形变</a:t>
            </a:r>
            <a:endParaRPr sz="1800">
              <a:solidFill>
                <a:schemeClr val="tx1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8C8C8C"/>
                </a:solidFill>
                <a:latin typeface="微软雅黑" panose="020B0503020204020204" charset="-122"/>
              </a:defRPr>
            </a:pP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关键设计: Noise Mode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训练时加入随机形变的噪声样本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60"/>
              </a:spcAft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迫使模型学习真正的warping而非像素捷径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6920865" y="3348355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8383270" y="3398520"/>
            <a:ext cx="164719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WaNet 攻击效果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7098665" y="3754755"/>
            <a:ext cx="421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ASR = 99.15%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9" name="TextBox 8"/>
          <p:cNvSpPr txBox="1"/>
          <p:nvPr>
            <p:custDataLst>
              <p:tags r:id="rId4"/>
            </p:custDataLst>
          </p:nvPr>
        </p:nvSpPr>
        <p:spPr>
          <a:xfrm>
            <a:off x="8493125" y="4361180"/>
            <a:ext cx="142748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人眼完全不可见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0" name="Rounded Rectangle 9"/>
          <p:cNvSpPr/>
          <p:nvPr>
            <p:custDataLst>
              <p:tags r:id="rId5"/>
            </p:custDataLst>
          </p:nvPr>
        </p:nvSpPr>
        <p:spPr>
          <a:xfrm>
            <a:off x="6920865" y="4995545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8709025" y="5045710"/>
            <a:ext cx="9956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绕过防御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2" name="TextBox 11"/>
          <p:cNvSpPr txBox="1"/>
          <p:nvPr>
            <p:custDataLst>
              <p:tags r:id="rId7"/>
            </p:custDataLst>
          </p:nvPr>
        </p:nvSpPr>
        <p:spPr>
          <a:xfrm>
            <a:off x="7098665" y="5401945"/>
            <a:ext cx="421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STRIP / NC / FP 全部失效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8404225" y="5980430"/>
            <a:ext cx="160528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现有防御无法检测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1515" y="778510"/>
            <a:ext cx="4281805" cy="22332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4485"/>
            <a:ext cx="209740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我们的工作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Rounded Rectangle 3"/>
          <p:cNvSpPr/>
          <p:nvPr>
            <p:custDataLst>
              <p:tags r:id="rId1"/>
            </p:custDataLst>
          </p:nvPr>
        </p:nvSpPr>
        <p:spPr>
          <a:xfrm>
            <a:off x="572135" y="1645920"/>
            <a:ext cx="3533775" cy="39357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1537335" y="2101215"/>
            <a:ext cx="15887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tx1">
                    <a:lumMod val="85000"/>
                    <a:lumOff val="15000"/>
                  </a:schemeClr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阶段一: 复现</a:t>
            </a:r>
            <a:endParaRPr sz="2000">
              <a:solidFill>
                <a:schemeClr val="tx1">
                  <a:lumMod val="85000"/>
                  <a:lumOff val="15000"/>
                </a:schemeClr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1167130" y="2771775"/>
            <a:ext cx="2329180" cy="4914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accent2">
                    <a:lumMod val="40000"/>
                    <a:lumOff val="60000"/>
                  </a:schemeClr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3数据集x2模式</a:t>
            </a:r>
            <a:endParaRPr>
              <a:solidFill>
                <a:schemeClr val="accent2">
                  <a:lumMod val="40000"/>
                  <a:lumOff val="60000"/>
                </a:schemeClr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1334135" y="4355465"/>
            <a:ext cx="199517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STRIP/NC/FP防御验证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1003618" y="3512185"/>
            <a:ext cx="2656205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主实验复现, 确认WaNet</a:t>
            </a:r>
            <a:b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确实绕过所有现有防御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4318635" y="1645920"/>
            <a:ext cx="3535680" cy="39433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5286375" y="2101215"/>
            <a:ext cx="15887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tx1">
                    <a:lumMod val="85000"/>
                    <a:lumOff val="15000"/>
                  </a:schemeClr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阶段二: 消融</a:t>
            </a:r>
            <a:endParaRPr sz="2000">
              <a:solidFill>
                <a:schemeClr val="tx1">
                  <a:lumMod val="85000"/>
                  <a:lumOff val="15000"/>
                </a:schemeClr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4658360" y="2771775"/>
            <a:ext cx="284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Noise/s/k参数扫描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5100320" y="4355465"/>
            <a:ext cx="196088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发现参数高度敏感规律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4561523" y="3512185"/>
            <a:ext cx="3038475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深入拆解warping机制</a:t>
            </a:r>
            <a:b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s&lt;0.5或k&lt;4时攻击大幅下降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8067040" y="1645920"/>
            <a:ext cx="3456940" cy="39433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9035415" y="2101215"/>
            <a:ext cx="15887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tx1">
                    <a:lumMod val="85000"/>
                    <a:lumOff val="15000"/>
                  </a:schemeClr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阶段三: </a:t>
            </a:r>
            <a:r>
              <a:rPr lang="zh-CN" sz="2000">
                <a:solidFill>
                  <a:schemeClr val="tx1">
                    <a:lumMod val="85000"/>
                    <a:lumOff val="15000"/>
                  </a:schemeClr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扩展</a:t>
            </a:r>
            <a:endParaRPr lang="zh-CN" sz="2000">
              <a:solidFill>
                <a:schemeClr val="tx1">
                  <a:lumMod val="85000"/>
                  <a:lumOff val="15000"/>
                </a:schemeClr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8407400" y="2771775"/>
            <a:ext cx="284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频域检测器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14"/>
            </p:custDataLst>
          </p:nvPr>
        </p:nvSpPr>
        <p:spPr>
          <a:xfrm>
            <a:off x="8709978" y="4355465"/>
            <a:ext cx="2239645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AUC 0.735 vs STRIP 0.50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8" name="TextBox 17"/>
          <p:cNvSpPr txBox="1"/>
          <p:nvPr>
            <p:custDataLst>
              <p:tags r:id="rId15"/>
            </p:custDataLst>
          </p:nvPr>
        </p:nvSpPr>
        <p:spPr>
          <a:xfrm>
            <a:off x="8344218" y="3512185"/>
            <a:ext cx="2971165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Warping=插值-&gt;频域留痕</a:t>
            </a:r>
            <a:b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从图像信号检测warping后门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32785" y="6049010"/>
            <a:ext cx="569595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现有防御看模型行为-&gt;检测不到; 我们看图像信号-&gt;能检测到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59410"/>
            <a:ext cx="5005070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主实验复现结果 (CIFAR-10)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Rounded Rectangle 3"/>
          <p:cNvSpPr/>
          <p:nvPr>
            <p:custDataLst>
              <p:tags r:id="rId1"/>
            </p:custDataLst>
          </p:nvPr>
        </p:nvSpPr>
        <p:spPr>
          <a:xfrm>
            <a:off x="1499870" y="1393190"/>
            <a:ext cx="3500755" cy="1854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2284095" y="1734185"/>
            <a:ext cx="1548130" cy="4876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</a:rPr>
              <a:t>Clean Acc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1537970" y="2169160"/>
            <a:ext cx="3013710" cy="66167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92.84%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294890" y="2724150"/>
            <a:ext cx="1651000" cy="44323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论文 94.15%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4334510" y="1393190"/>
            <a:ext cx="3500755" cy="1854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5306060" y="1734185"/>
            <a:ext cx="786765" cy="4876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</a:rPr>
              <a:t>ASR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4372610" y="2155190"/>
            <a:ext cx="3013710" cy="66167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99.15%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5129530" y="2724150"/>
            <a:ext cx="1651000" cy="44323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论文 99.55%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9"/>
            </p:custDataLst>
          </p:nvPr>
        </p:nvSpPr>
        <p:spPr>
          <a:xfrm>
            <a:off x="7169150" y="1393190"/>
            <a:ext cx="3500755" cy="1854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7947025" y="1734185"/>
            <a:ext cx="1525905" cy="4876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</a:rPr>
              <a:t>Cross Acc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7207250" y="2155190"/>
            <a:ext cx="3013710" cy="66167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89.71%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7964170" y="2724150"/>
            <a:ext cx="1651000" cy="44323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论文 93.55%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541780" y="3740150"/>
            <a:ext cx="9627870" cy="1899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  <a:defRPr sz="15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防御验证: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25"/>
              </a:spcAft>
              <a:defRPr sz="15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STRIP: Entropy分布无法区分 -&gt; 检测失败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25"/>
              </a:spcAft>
              <a:defRPr sz="15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Fine-Pruning</a:t>
            </a:r>
            <a:r>
              <a:rPr lang="zh-CN"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剪枝后ASR仍&gt;90% -&gt; 无法消除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25"/>
              </a:spcAft>
              <a:defRPr sz="15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Neural Cleanse</a:t>
            </a:r>
            <a:r>
              <a:rPr lang="zh-CN"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Anomaly Index&lt;2 -&gt; 检测不到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25"/>
              </a:spcAft>
              <a:defRPr sz="15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结论: WaNet确实能绕过所有三种现有防御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73380"/>
            <a:ext cx="5922010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消融实验</a:t>
            </a:r>
            <a:r>
              <a:rPr lang="zh-CN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Noise Mode的关键作用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Rounded Rectangle 3"/>
          <p:cNvSpPr/>
          <p:nvPr>
            <p:custDataLst>
              <p:tags r:id="rId1"/>
            </p:custDataLst>
          </p:nvPr>
        </p:nvSpPr>
        <p:spPr>
          <a:xfrm>
            <a:off x="1098550" y="1828800"/>
            <a:ext cx="4690745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2500630" y="2046605"/>
            <a:ext cx="189611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With Noise Mode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1111885" y="2514600"/>
            <a:ext cx="467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Cross Acc = 89.71%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043430" y="3286125"/>
            <a:ext cx="2810510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Neural Cleanse 检测不到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199505" y="1828800"/>
            <a:ext cx="46761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7472998" y="2046605"/>
            <a:ext cx="222567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Without Noise Mode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6249035" y="2500630"/>
            <a:ext cx="467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Cross Acc = 0.00%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7180580" y="3286125"/>
            <a:ext cx="2810510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8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Neural Cleanse 能检测到</a:t>
            </a:r>
            <a:endParaRPr sz="18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23963" y="4339590"/>
            <a:ext cx="5986145" cy="1291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30000"/>
              </a:lnSpc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Noise Mode是WaNet绕过防御的决定性因素。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无Noise</a:t>
            </a:r>
            <a:r>
              <a:rPr lang="zh-CN"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模型学到像素捷径-&gt;被NC发现。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 algn="l">
              <a:lnSpc>
                <a:spcPct val="130000"/>
              </a:lnSpc>
              <a:defRPr sz="16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有Noise</a:t>
            </a:r>
            <a:r>
              <a:rPr lang="zh-CN"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模型被迫学习真正的warping-&gt;防御失效。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34606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消融实验</a:t>
            </a:r>
            <a:r>
              <a:rPr lang="zh-CN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Warping参数敏感性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1455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TextBox 3"/>
          <p:cNvSpPr txBox="1"/>
          <p:nvPr>
            <p:custDataLst>
              <p:tags r:id="rId1"/>
            </p:custDataLst>
          </p:nvPr>
        </p:nvSpPr>
        <p:spPr>
          <a:xfrm>
            <a:off x="975995" y="161671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Warping强度 s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975995" y="216535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1744663" y="2292350"/>
            <a:ext cx="84010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s = 0.25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1499870" y="2599690"/>
            <a:ext cx="132969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</a:rPr>
              <a:t>ASR 74%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1613218" y="3037840"/>
            <a:ext cx="1102995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太弱-&gt;失效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3627755" y="216535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4396423" y="2292350"/>
            <a:ext cx="84010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s = 0.50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3958590" y="2599690"/>
            <a:ext cx="17157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</a:rPr>
              <a:t>ASR 99.59%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4547235" y="3037840"/>
            <a:ext cx="53848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最优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6279515" y="216535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7048183" y="2292350"/>
            <a:ext cx="84010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s = 1.00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6610350" y="2599690"/>
            <a:ext cx="17157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</a:rPr>
              <a:t>ASR 98.29%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7198995" y="3037840"/>
            <a:ext cx="53848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饱和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14"/>
            </p:custDataLst>
          </p:nvPr>
        </p:nvSpPr>
        <p:spPr>
          <a:xfrm>
            <a:off x="975995" y="381127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网格大小 k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975995" y="435991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1849120" y="4486910"/>
            <a:ext cx="63119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k = 2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1306830" y="4787265"/>
            <a:ext cx="17157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</a:rPr>
              <a:t>ASR 92.82%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8"/>
            </p:custDataLst>
          </p:nvPr>
        </p:nvSpPr>
        <p:spPr>
          <a:xfrm>
            <a:off x="1435418" y="5225415"/>
            <a:ext cx="1458595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太粗-&gt;被当噪声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22" name="Rounded Rectangle 21"/>
          <p:cNvSpPr/>
          <p:nvPr>
            <p:custDataLst>
              <p:tags r:id="rId19"/>
            </p:custDataLst>
          </p:nvPr>
        </p:nvSpPr>
        <p:spPr>
          <a:xfrm>
            <a:off x="3627755" y="435991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20"/>
            </p:custDataLst>
          </p:nvPr>
        </p:nvSpPr>
        <p:spPr>
          <a:xfrm>
            <a:off x="4500880" y="4486910"/>
            <a:ext cx="63119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k = 4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4" name="TextBox 23"/>
          <p:cNvSpPr txBox="1"/>
          <p:nvPr>
            <p:custDataLst>
              <p:tags r:id="rId21"/>
            </p:custDataLst>
          </p:nvPr>
        </p:nvSpPr>
        <p:spPr>
          <a:xfrm>
            <a:off x="3958590" y="4787265"/>
            <a:ext cx="17157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</a:rPr>
              <a:t>ASR 99.15%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22"/>
            </p:custDataLst>
          </p:nvPr>
        </p:nvSpPr>
        <p:spPr>
          <a:xfrm>
            <a:off x="4547235" y="5225415"/>
            <a:ext cx="53848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最优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6" name="Rounded Rectangle 25"/>
          <p:cNvSpPr/>
          <p:nvPr>
            <p:custDataLst>
              <p:tags r:id="rId23"/>
            </p:custDataLst>
          </p:nvPr>
        </p:nvSpPr>
        <p:spPr>
          <a:xfrm>
            <a:off x="6279515" y="4359910"/>
            <a:ext cx="23774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7" name="TextBox 26"/>
          <p:cNvSpPr txBox="1"/>
          <p:nvPr>
            <p:custDataLst>
              <p:tags r:id="rId24"/>
            </p:custDataLst>
          </p:nvPr>
        </p:nvSpPr>
        <p:spPr>
          <a:xfrm>
            <a:off x="7152640" y="4486910"/>
            <a:ext cx="63119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k = 8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8" name="TextBox 27"/>
          <p:cNvSpPr txBox="1"/>
          <p:nvPr>
            <p:custDataLst>
              <p:tags r:id="rId25"/>
            </p:custDataLst>
          </p:nvPr>
        </p:nvSpPr>
        <p:spPr>
          <a:xfrm>
            <a:off x="6610350" y="4787265"/>
            <a:ext cx="17157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</a:rPr>
              <a:t>ASR 97.55%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9" name="TextBox 28"/>
          <p:cNvSpPr txBox="1"/>
          <p:nvPr>
            <p:custDataLst>
              <p:tags r:id="rId26"/>
            </p:custDataLst>
          </p:nvPr>
        </p:nvSpPr>
        <p:spPr>
          <a:xfrm>
            <a:off x="7198995" y="5225415"/>
            <a:ext cx="53848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饱和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507855" y="1785620"/>
            <a:ext cx="1832610" cy="31692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发现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WaNet对参数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高度敏感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s&lt;0.5或k&lt;4时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攻击大幅下降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存在狭窄的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有效参数区间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34606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lang="zh-CN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发现：</a:t>
            </a: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Warping在频域留下痕迹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9010" y="1463040"/>
            <a:ext cx="5029200" cy="399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消融实验揭示了一个重要线索: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WaNet 的 warping 到底是怎么实现的？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它调用的是 PyTorch 的 grid_sample 函数 + 双线性插值 (bilinear interpolation)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而插值运算本质上是一种信号处理操作 ——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每个新像素 = 周围像素的加权平均 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-&gt; 必然在频域留下痕迹!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全新检测思路: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0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现有防御</a:t>
            </a:r>
            <a:r>
              <a:rPr lang="zh-CN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看模型输出 -&gt; 检测不到WaNet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>
              <a:spcAft>
                <a:spcPts val="595"/>
              </a:spcAft>
              <a:defRPr sz="17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我们的方法</a:t>
            </a:r>
            <a:r>
              <a:rPr lang="zh-CN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看图像频域(FFT) -&gt; 能检测到!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815263" y="1828800"/>
            <a:ext cx="2657475" cy="28613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Warping的本质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grid_sample对图像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做双线性插值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每个插值点=周围像素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的加权平均</a:t>
            </a: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b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-&gt; 频域高频分量异常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1069848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47840" y="5380990"/>
            <a:ext cx="2411730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不可感知 != 不可检测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431540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频域Warping检测器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Rounded Rectangle 3"/>
          <p:cNvSpPr/>
          <p:nvPr>
            <p:custDataLst>
              <p:tags r:id="rId1"/>
            </p:custDataLst>
          </p:nvPr>
        </p:nvSpPr>
        <p:spPr>
          <a:xfrm>
            <a:off x="731520" y="1828800"/>
            <a:ext cx="195516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1073785" y="1990725"/>
            <a:ext cx="132715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STEP1: 图像对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695643" y="2409825"/>
            <a:ext cx="208343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Clean+Warped</a:t>
            </a:r>
            <a:b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各500张</a:t>
            </a:r>
            <a:endParaRPr sz="2000">
              <a:solidFill>
                <a:srgbClr val="C2A497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729864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-&gt;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3031490" y="1828800"/>
            <a:ext cx="194881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3480118" y="1990725"/>
            <a:ext cx="1086485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STEP2: FFT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3293745" y="2409825"/>
            <a:ext cx="145923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傅里叶变换</a:t>
            </a:r>
            <a:b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频谱图</a:t>
            </a:r>
            <a:endParaRPr sz="2000">
              <a:solidFill>
                <a:srgbClr val="C2A497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5015865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-&gt;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9"/>
            </p:custDataLst>
          </p:nvPr>
        </p:nvSpPr>
        <p:spPr>
          <a:xfrm>
            <a:off x="5353050" y="1828800"/>
            <a:ext cx="193611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5734685" y="1990725"/>
            <a:ext cx="114935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STEP3: 特征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5501323" y="2409825"/>
            <a:ext cx="161607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高频能量比</a:t>
            </a:r>
            <a:b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频谱熵等6维</a:t>
            </a:r>
            <a:endParaRPr sz="2000">
              <a:solidFill>
                <a:srgbClr val="C2A497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7308850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-&gt;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6" name="Rounded Rectangle 15"/>
          <p:cNvSpPr/>
          <p:nvPr>
            <p:custDataLst>
              <p:tags r:id="rId13"/>
            </p:custDataLst>
          </p:nvPr>
        </p:nvSpPr>
        <p:spPr>
          <a:xfrm>
            <a:off x="7615555" y="1828800"/>
            <a:ext cx="19431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14"/>
            </p:custDataLst>
          </p:nvPr>
        </p:nvSpPr>
        <p:spPr>
          <a:xfrm>
            <a:off x="8000048" y="1990725"/>
            <a:ext cx="1190625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STEP4: SVM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8" name="TextBox 17"/>
          <p:cNvSpPr txBox="1"/>
          <p:nvPr>
            <p:custDataLst>
              <p:tags r:id="rId15"/>
            </p:custDataLst>
          </p:nvPr>
        </p:nvSpPr>
        <p:spPr>
          <a:xfrm>
            <a:off x="7832408" y="2409825"/>
            <a:ext cx="152590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RBF核SVM</a:t>
            </a:r>
            <a:b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30%测试</a:t>
            </a:r>
            <a:endParaRPr sz="2000">
              <a:solidFill>
                <a:srgbClr val="C2A497"/>
              </a:solidFill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9587865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-&gt;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896475" y="1828800"/>
            <a:ext cx="199072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306685" y="1990725"/>
            <a:ext cx="114935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STEP5: 评估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931718" y="2409825"/>
            <a:ext cx="189928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</a:rPr>
              <a:t>ROC vs STRIP</a:t>
            </a:r>
            <a:b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</a:rPr>
            </a:br>
            <a:r>
              <a:rPr sz="2000">
                <a:solidFill>
                  <a:srgbClr val="C2A497"/>
                </a:solidFill>
                <a:latin typeface="方正北魏楷书简体" panose="03000509000000000000" charset="-122"/>
                <a:ea typeface="方正北魏楷书简体" panose="03000509000000000000" charset="-122"/>
              </a:rPr>
              <a:t>AUC 0.735</a:t>
            </a:r>
            <a:endParaRPr sz="2000">
              <a:solidFill>
                <a:srgbClr val="C2A497"/>
              </a:solidFill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85190" y="4114800"/>
            <a:ext cx="50292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740660" y="4241800"/>
            <a:ext cx="131826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6维频域特征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660525" y="4605020"/>
            <a:ext cx="3478530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高频能量比 / 频谱熵 / 均值频率 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方差频率 / 低频能量比 / 中频能量比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231890" y="4114800"/>
            <a:ext cx="50292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48650" y="4241800"/>
            <a:ext cx="9956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检测结果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291898" y="4765675"/>
            <a:ext cx="490918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Acc=67.33%  |  AUC=0.735  |  STRIP AUC=0.50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6395"/>
            <a:ext cx="509841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频域可视化</a:t>
            </a:r>
            <a:r>
              <a:rPr lang="zh-CN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Clean vs Warped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图片 16" descr="fft_spectrum_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2675" y="1201420"/>
            <a:ext cx="7974965" cy="51269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3580" y="331470"/>
            <a:ext cx="562038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检测性能</a:t>
            </a:r>
            <a:r>
              <a:rPr lang="zh-CN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：</a:t>
            </a: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频域检测器 vs STRIP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Rounded Rectangle 3"/>
          <p:cNvSpPr/>
          <p:nvPr>
            <p:custDataLst>
              <p:tags r:id="rId1"/>
            </p:custDataLst>
          </p:nvPr>
        </p:nvSpPr>
        <p:spPr>
          <a:xfrm>
            <a:off x="1360170" y="1633220"/>
            <a:ext cx="3474720" cy="13442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2272030" y="1732280"/>
            <a:ext cx="165100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频域检测器</a:t>
            </a: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 (Ours)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1537970" y="2039620"/>
            <a:ext cx="311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AUC = 0.735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455545" y="2551430"/>
            <a:ext cx="128397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准确率 67.33%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1360170" y="3082290"/>
            <a:ext cx="3474720" cy="1315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2730818" y="3209290"/>
            <a:ext cx="73342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</a:rPr>
              <a:t>STRIP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1537970" y="3488690"/>
            <a:ext cx="311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AUC = 0.50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2472690" y="3965575"/>
            <a:ext cx="1249680" cy="3067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等同随机猜测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9"/>
            </p:custDataLst>
          </p:nvPr>
        </p:nvSpPr>
        <p:spPr>
          <a:xfrm>
            <a:off x="1360170" y="4578985"/>
            <a:ext cx="3474720" cy="13284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1537970" y="4705985"/>
            <a:ext cx="3088640" cy="1892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400">
                <a:latin typeface="方正北魏楷书简体" panose="03000509000000000000" charset="-122"/>
                <a:ea typeface="方正北魏楷书简体" panose="03000509000000000000" charset="-122"/>
              </a:rPr>
              <a:t>提升幅度</a:t>
            </a:r>
            <a:endParaRPr sz="1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1537970" y="4985385"/>
            <a:ext cx="3088640" cy="3568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+23.5% AUC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48743" y="5273675"/>
            <a:ext cx="442658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STRIP看模型输出熵-&gt;无法区分(AUC=0.50)  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  <a:p>
            <a:pPr algn="ctr">
              <a:defRPr sz="1500" b="0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频域检测器看图像信号-&gt;能有效检测(AUC=0.735)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pic>
        <p:nvPicPr>
          <p:cNvPr id="18" name="图片 17" descr="roc_curv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940" y="1177290"/>
            <a:ext cx="5076825" cy="38080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0365"/>
            <a:ext cx="2480310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实验结果汇总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1563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Epochs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Clean Acc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ASR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Cross Acc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C2A49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Noise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99.15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Baseline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Noise WITHOUT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92.74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98.21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Noise is KEY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s=0.25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74.12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 too small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s=0.50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99.59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Optimal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s=1.00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98.29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Saturated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k=2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92.14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92.82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88.95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D3D3D"/>
                          </a:solidFill>
                          <a:latin typeface="微软雅黑" panose="020B0503020204020204" charset="-122"/>
                        </a:defRPr>
                      </a:pPr>
                      <a:r>
                        <a:t>k too small</a:t>
                      </a:r>
                    </a:p>
                  </a:txBody>
                  <a:tcPr>
                    <a:solidFill>
                      <a:srgbClr val="F5F0E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k=4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99.15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Optimal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k=8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91.94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97.55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88.04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Saturated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Seed=0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99.59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89.69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Stable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Seed=1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92.10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98.70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88.72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C8C8C"/>
                          </a:solidFill>
                          <a:latin typeface="微软雅黑" panose="020B0503020204020204" charset="-122"/>
                        </a:defRPr>
                      </a:pPr>
                      <a:r>
                        <a:t>Stable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19903" y="594360"/>
            <a:ext cx="1151890" cy="675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结论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0" y="1276985"/>
            <a:ext cx="3047695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TextBox 3"/>
          <p:cNvSpPr txBox="1"/>
          <p:nvPr>
            <p:custDataLst>
              <p:tags r:id="rId1"/>
            </p:custDataLst>
          </p:nvPr>
        </p:nvSpPr>
        <p:spPr>
          <a:xfrm>
            <a:off x="1828800" y="1874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1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2468880" y="1874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WaNet攻击高度有效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2468880" y="2240280"/>
            <a:ext cx="410972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CIFAR-10上ASR达99.15%, Clean保持92.84%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1828800" y="2880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2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468880" y="28803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Noise Mode是绕过防御的关键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2468880" y="3246120"/>
            <a:ext cx="432879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无Noise时Cross=0%</a:t>
            </a:r>
            <a:r>
              <a:rPr lang="zh-CN"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，</a:t>
            </a: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门可被Neural Cleanse检测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1828800" y="3886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D4847A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3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2468880" y="38862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Warping参数高度敏感</a:t>
            </a:r>
            <a:endParaRPr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2468880" y="4251960"/>
            <a:ext cx="453136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</a:t>
            </a:r>
            <a:r>
              <a:rPr lang="en-US"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&lt;</a:t>
            </a: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0.5或k&lt;4时攻击大幅下降 — 存在狭窄有效区间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1828800" y="48920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7AA884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4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2468880" y="4892040"/>
            <a:ext cx="19697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 lang="zh-CN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扩展：</a:t>
            </a:r>
            <a:r>
              <a:rPr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  <a:sym typeface="+mn-ea"/>
              </a:rPr>
              <a:t>频域检测</a:t>
            </a:r>
            <a:endParaRPr lang="zh-CN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468880" y="5257800"/>
            <a:ext cx="558101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从图像信号层面检测warping后门, AUC 0.735远超STRIP(0.50)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35398" y="805815"/>
            <a:ext cx="2120900" cy="675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成员分工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4" name="Rounded Rectangle 3"/>
          <p:cNvSpPr/>
          <p:nvPr>
            <p:custDataLst>
              <p:tags r:id="rId1"/>
            </p:custDataLst>
          </p:nvPr>
        </p:nvSpPr>
        <p:spPr>
          <a:xfrm>
            <a:off x="1611630" y="2163445"/>
            <a:ext cx="4259580" cy="33280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3276600" y="2465070"/>
            <a:ext cx="944880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</a:rPr>
              <a:t>周争妍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2827338" y="3093720"/>
            <a:ext cx="184340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主实验复现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  <a:p>
            <a:pPr algn="ctr">
              <a:defRPr sz="2600" b="1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防御验证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1817688" y="4240530"/>
            <a:ext cx="3862705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3数据集 x 2模式</a:t>
            </a:r>
            <a:b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STRIP / Fine-Pruning / Neural Cleanse</a:t>
            </a:r>
            <a:b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环境配置 + tmux并行脚本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217285" y="2163445"/>
            <a:ext cx="4391025" cy="332422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7940040" y="2465070"/>
            <a:ext cx="944880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</a:rPr>
              <a:t>蒋竺君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7555865" y="3037840"/>
            <a:ext cx="1713230" cy="119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rPr sz="2400">
                <a:latin typeface="方正北魏楷书简体" panose="03000509000000000000" charset="-122"/>
                <a:ea typeface="方正北魏楷书简体" panose="03000509000000000000" charset="-122"/>
              </a:rPr>
              <a:t>消融实验</a:t>
            </a:r>
            <a:endParaRPr sz="2400">
              <a:latin typeface="方正北魏楷书简体" panose="03000509000000000000" charset="-122"/>
              <a:ea typeface="方正北魏楷书简体" panose="03000509000000000000" charset="-122"/>
            </a:endParaRPr>
          </a:p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rPr sz="2400">
                <a:latin typeface="方正北魏楷书简体" panose="03000509000000000000" charset="-122"/>
                <a:ea typeface="方正北魏楷书简体" panose="03000509000000000000" charset="-122"/>
              </a:rPr>
              <a:t>频域检测器</a:t>
            </a:r>
            <a:endParaRPr sz="2400">
              <a:latin typeface="方正北魏楷书简体" panose="03000509000000000000" charset="-122"/>
              <a:ea typeface="方正北魏楷书简体" panose="03000509000000000000" charset="-122"/>
            </a:endParaRPr>
          </a:p>
          <a:p>
            <a:pPr algn="ctr">
              <a:defRPr sz="2600" b="1">
                <a:solidFill>
                  <a:srgbClr val="9B9EC0"/>
                </a:solidFill>
                <a:latin typeface="微软雅黑" panose="020B0503020204020204" charset="-122"/>
              </a:defRPr>
            </a:pPr>
            <a:r>
              <a:rPr sz="2400">
                <a:latin typeface="方正北魏楷书简体" panose="03000509000000000000" charset="-122"/>
                <a:ea typeface="方正北魏楷书简体" panose="03000509000000000000" charset="-122"/>
              </a:rPr>
              <a:t>可视化</a:t>
            </a:r>
            <a:endParaRPr sz="24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7207885" y="4429125"/>
            <a:ext cx="240919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C8C8C"/>
                </a:solidFill>
                <a:latin typeface="微软雅黑" panose="020B0503020204020204" charset="-122"/>
              </a:defRPr>
            </a:pP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Noise/s/k参数扫描</a:t>
            </a:r>
            <a:b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</a:br>
            <a:r>
              <a:rPr sz="1600">
                <a:latin typeface="方正北魏楷书简体" panose="03000509000000000000" charset="-122"/>
                <a:ea typeface="方正北魏楷书简体" panose="03000509000000000000" charset="-122"/>
                <a:cs typeface="方正北魏楷书简体" panose="03000509000000000000" charset="-122"/>
              </a:rPr>
              <a:t>频域检测器 (AUC 0.735)</a:t>
            </a:r>
            <a:endParaRPr sz="1600">
              <a:latin typeface="方正北魏楷书简体" panose="03000509000000000000" charset="-122"/>
              <a:ea typeface="方正北魏楷书简体" panose="03000509000000000000" charset="-122"/>
              <a:cs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392268" y="2031365"/>
            <a:ext cx="1407160" cy="8299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3D3D3D"/>
                </a:solidFill>
                <a:latin typeface="微软雅黑" panose="020B0503020204020204" charset="-122"/>
              </a:defRPr>
            </a:pPr>
            <a:r>
              <a:rPr>
                <a:latin typeface="方正北魏楷书简体" panose="03000509000000000000" charset="-122"/>
                <a:ea typeface="方正北魏楷书简体" panose="03000509000000000000" charset="-122"/>
              </a:rPr>
              <a:t>感谢</a:t>
            </a:r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56913" y="3503295"/>
            <a:ext cx="3277870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0">
                <a:solidFill>
                  <a:srgbClr val="C2A497"/>
                </a:solidFill>
                <a:latin typeface="微软雅黑" panose="020B0503020204020204" charset="-122"/>
              </a:defRPr>
            </a:pPr>
            <a:r>
              <a:rPr sz="2000">
                <a:latin typeface="方正北魏楷书简体" panose="03000509000000000000" charset="-122"/>
                <a:ea typeface="方正北魏楷书简体" panose="03000509000000000000" charset="-122"/>
              </a:rPr>
              <a:t>github.com/axgo-ja/NIS3353</a:t>
            </a:r>
            <a:endParaRPr sz="2000"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0" y="3105150"/>
            <a:ext cx="6705295" cy="12700"/>
          </a:xfrm>
          <a:prstGeom prst="rect">
            <a:avLst/>
          </a:prstGeom>
          <a:solidFill>
            <a:srgbClr val="C2A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方正北魏楷书简体" panose="03000509000000000000" charset="-122"/>
              <a:ea typeface="方正北魏楷书简体" panose="03000509000000000000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56.15,&quot;left&quot;:544.95,&quot;top&quot;:224.05,&quot;width&quot;:360}"/>
</p:tagLst>
</file>

<file path=ppt/tags/tag2.xml><?xml version="1.0" encoding="utf-8"?>
<p:tagLst xmlns:p="http://schemas.openxmlformats.org/presentationml/2006/main">
  <p:tag name="KSO_WM_DIAGRAM_VIRTUALLY_FRAME" val="{&quot;height&quot;:256.15,&quot;left&quot;:544.95,&quot;top&quot;:224.05,&quot;width&quot;:360}"/>
</p:tagLst>
</file>

<file path=ppt/tags/tag3.xml><?xml version="1.0" encoding="utf-8"?>
<p:tagLst xmlns:p="http://schemas.openxmlformats.org/presentationml/2006/main">
  <p:tag name="KSO_WM_DIAGRAM_VIRTUALLY_FRAME" val="{&quot;height&quot;:256.15,&quot;left&quot;:544.95,&quot;top&quot;:224.05,&quot;width&quot;:360}"/>
</p:tagLst>
</file>

<file path=ppt/tags/tag4.xml><?xml version="1.0" encoding="utf-8"?>
<p:tagLst xmlns:p="http://schemas.openxmlformats.org/presentationml/2006/main">
  <p:tag name="KSO_WM_DIAGRAM_VIRTUALLY_FRAME" val="{&quot;height&quot;:256.15,&quot;left&quot;:544.95,&quot;top&quot;:224.05,&quot;width&quot;:360}"/>
</p:tagLst>
</file>

<file path=ppt/tags/tag5.xml><?xml version="1.0" encoding="utf-8"?>
<p:tagLst xmlns:p="http://schemas.openxmlformats.org/presentationml/2006/main">
  <p:tag name="KSO_WM_DIAGRAM_VIRTUALLY_FRAME" val="{&quot;height&quot;:256.15,&quot;left&quot;:544.95,&quot;top&quot;:224.05,&quot;width&quot;:360}"/>
</p:tagLst>
</file>

<file path=ppt/tags/tag6.xml><?xml version="1.0" encoding="utf-8"?>
<p:tagLst xmlns:p="http://schemas.openxmlformats.org/presentationml/2006/main">
  <p:tag name="KSO_WM_DIAGRAM_VIRTUALLY_FRAME" val="{&quot;height&quot;:256.15,&quot;left&quot;:544.95,&quot;top&quot;:224.05,&quot;width&quot;:360}"/>
</p:tagLst>
</file>

<file path=ppt/tags/tag7.xml><?xml version="1.0" encoding="utf-8"?>
<p:tagLst xmlns:p="http://schemas.openxmlformats.org/presentationml/2006/main">
  <p:tag name="KSO_WM_DIAGRAM_VIRTUALLY_FRAME" val="{&quot;height&quot;:256.15,&quot;left&quot;:544.95,&quot;top&quot;:224.05,&quot;width&quot;:360}"/>
</p:tagLst>
</file>

<file path=ppt/tags/tag8.xml><?xml version="1.0" encoding="utf-8"?>
<p:tagLst xmlns:p="http://schemas.openxmlformats.org/presentationml/2006/main">
  <p:tag name="KSO_WM_DIAGRAM_VIRTUALLY_FRAME" val="{&quot;height&quot;:256.15,&quot;left&quot;:544.95,&quot;top&quot;:224.05,&quot;width&quot;:360}"/>
</p:tagLst>
</file>

<file path=ppt/tags/tag9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0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1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2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3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4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5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6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7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8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19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20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21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22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23.xml><?xml version="1.0" encoding="utf-8"?>
<p:tagLst xmlns:p="http://schemas.openxmlformats.org/presentationml/2006/main">
  <p:tag name="KSO_WM_DIAGRAM_VIRTUALLY_FRAME" val="{&quot;height&quot;:310.5,&quot;left&quot;:45.05,&quot;top&quot;:129.6,&quot;width&quot;:870.1}"/>
</p:tagLst>
</file>

<file path=ppt/tags/tag24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25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26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27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28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29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30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31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32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33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34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35.xml><?xml version="1.0" encoding="utf-8"?>
<p:tagLst xmlns:p="http://schemas.openxmlformats.org/presentationml/2006/main">
  <p:tag name="KSO_WM_DIAGRAM_VIRTUALLY_FRAME" val="{&quot;height&quot;:146,&quot;left&quot;:57.6,&quot;top&quot;:109.7,&quot;width&quot;:871.2}"/>
</p:tagLst>
</file>

<file path=ppt/tags/tag36.xml><?xml version="1.0" encoding="utf-8"?>
<p:tagLst xmlns:p="http://schemas.openxmlformats.org/presentationml/2006/main">
  <p:tag name="KSO_WM_DIAGRAM_VIRTUALLY_FRAME" val="{&quot;height&quot;:167.95,&quot;left&quot;:57.6,&quot;top&quot;:144,&quot;width&quot;:828}"/>
</p:tagLst>
</file>

<file path=ppt/tags/tag37.xml><?xml version="1.0" encoding="utf-8"?>
<p:tagLst xmlns:p="http://schemas.openxmlformats.org/presentationml/2006/main">
  <p:tag name="KSO_WM_DIAGRAM_VIRTUALLY_FRAME" val="{&quot;height&quot;:167.95,&quot;left&quot;:57.6,&quot;top&quot;:144,&quot;width&quot;:828}"/>
</p:tagLst>
</file>

<file path=ppt/tags/tag38.xml><?xml version="1.0" encoding="utf-8"?>
<p:tagLst xmlns:p="http://schemas.openxmlformats.org/presentationml/2006/main">
  <p:tag name="KSO_WM_DIAGRAM_VIRTUALLY_FRAME" val="{&quot;height&quot;:167.95,&quot;left&quot;:57.6,&quot;top&quot;:144,&quot;width&quot;:828}"/>
</p:tagLst>
</file>

<file path=ppt/tags/tag39.xml><?xml version="1.0" encoding="utf-8"?>
<p:tagLst xmlns:p="http://schemas.openxmlformats.org/presentationml/2006/main">
  <p:tag name="KSO_WM_DIAGRAM_VIRTUALLY_FRAME" val="{&quot;height&quot;:167.95,&quot;left&quot;:57.6,&quot;top&quot;:144,&quot;width&quot;:828}"/>
</p:tagLst>
</file>

<file path=ppt/tags/tag40.xml><?xml version="1.0" encoding="utf-8"?>
<p:tagLst xmlns:p="http://schemas.openxmlformats.org/presentationml/2006/main">
  <p:tag name="KSO_WM_DIAGRAM_VIRTUALLY_FRAME" val="{&quot;height&quot;:167.95,&quot;left&quot;:57.6,&quot;top&quot;:144,&quot;width&quot;:828}"/>
</p:tagLst>
</file>

<file path=ppt/tags/tag41.xml><?xml version="1.0" encoding="utf-8"?>
<p:tagLst xmlns:p="http://schemas.openxmlformats.org/presentationml/2006/main">
  <p:tag name="KSO_WM_DIAGRAM_VIRTUALLY_FRAME" val="{&quot;height&quot;:167.95,&quot;left&quot;:57.6,&quot;top&quot;:144,&quot;width&quot;:828}"/>
</p:tagLst>
</file>

<file path=ppt/tags/tag42.xml><?xml version="1.0" encoding="utf-8"?>
<p:tagLst xmlns:p="http://schemas.openxmlformats.org/presentationml/2006/main">
  <p:tag name="KSO_WM_DIAGRAM_VIRTUALLY_FRAME" val="{&quot;height&quot;:167.95,&quot;left&quot;:57.6,&quot;top&quot;:144,&quot;width&quot;:828}"/>
</p:tagLst>
</file>

<file path=ppt/tags/tag43.xml><?xml version="1.0" encoding="utf-8"?>
<p:tagLst xmlns:p="http://schemas.openxmlformats.org/presentationml/2006/main">
  <p:tag name="KSO_WM_DIAGRAM_VIRTUALLY_FRAME" val="{&quot;height&quot;:167.95,&quot;left&quot;:57.6,&quot;top&quot;:144,&quot;width&quot;:828}"/>
</p:tagLst>
</file>

<file path=ppt/tags/tag44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45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46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47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48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49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0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1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2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3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4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5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6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7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8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59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0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1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2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3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4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5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6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7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8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69.xml><?xml version="1.0" encoding="utf-8"?>
<p:tagLst xmlns:p="http://schemas.openxmlformats.org/presentationml/2006/main">
  <p:tag name="KSO_WM_DIAGRAM_VIRTUALLY_FRAME" val="{&quot;height&quot;:316.8,&quot;left&quot;:57.6,&quot;top&quot;:115.2,&quot;width&quot;:604.8}"/>
</p:tagLst>
</file>

<file path=ppt/tags/tag70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71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72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73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74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75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76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77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78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79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80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81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82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83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84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85.xml><?xml version="1.0" encoding="utf-8"?>
<p:tagLst xmlns:p="http://schemas.openxmlformats.org/presentationml/2006/main">
  <p:tag name="KSO_WM_DIAGRAM_VIRTUALLY_FRAME" val="{&quot;height&quot;:144,&quot;left&quot;:54.775039370078744,&quot;top&quot;:144,&quot;width&quot;:721.7749606299212}"/>
</p:tagLst>
</file>

<file path=ppt/tags/tag86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87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88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89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90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91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92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93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94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95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96.xml><?xml version="1.0" encoding="utf-8"?>
<p:tagLst xmlns:p="http://schemas.openxmlformats.org/presentationml/2006/main">
  <p:tag name="KSO_WM_DIAGRAM_VIRTUALLY_FRAME" val="{&quot;height&quot;:431.9,&quot;left&quot;:57.6,&quot;top&quot;:107.15,&quot;width&quot;:856.8}"/>
</p:tagLst>
</file>

<file path=ppt/tags/tag97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98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99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0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1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2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3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4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5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6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7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8.xml><?xml version="1.0" encoding="utf-8"?>
<p:tagLst xmlns:p="http://schemas.openxmlformats.org/presentationml/2006/main">
  <p:tag name="KSO_WM_DIAGRAM_VIRTUALLY_FRAME" val="{&quot;height&quot;:292.95,&quot;left&quot;:144,&quot;top&quot;:147.6,&quot;width&quot;:489.85}"/>
</p:tagLst>
</file>

<file path=ppt/tags/tag109.xml><?xml version="1.0" encoding="utf-8"?>
<p:tagLst xmlns:p="http://schemas.openxmlformats.org/presentationml/2006/main">
  <p:tag name="KSO_WM_DIAGRAM_VIRTUALLY_FRAME" val="{&quot;height&quot;:262.05,&quot;left&quot;:126.9,&quot;top&quot;:170.35,&quot;width&quot;:708.4}"/>
</p:tagLst>
</file>

<file path=ppt/tags/tag110.xml><?xml version="1.0" encoding="utf-8"?>
<p:tagLst xmlns:p="http://schemas.openxmlformats.org/presentationml/2006/main">
  <p:tag name="KSO_WM_DIAGRAM_VIRTUALLY_FRAME" val="{&quot;height&quot;:262.05,&quot;left&quot;:126.9,&quot;top&quot;:170.35,&quot;width&quot;:708.4}"/>
</p:tagLst>
</file>

<file path=ppt/tags/tag111.xml><?xml version="1.0" encoding="utf-8"?>
<p:tagLst xmlns:p="http://schemas.openxmlformats.org/presentationml/2006/main">
  <p:tag name="KSO_WM_DIAGRAM_VIRTUALLY_FRAME" val="{&quot;height&quot;:262.05,&quot;left&quot;:126.9,&quot;top&quot;:170.35,&quot;width&quot;:708.4}"/>
</p:tagLst>
</file>

<file path=ppt/tags/tag112.xml><?xml version="1.0" encoding="utf-8"?>
<p:tagLst xmlns:p="http://schemas.openxmlformats.org/presentationml/2006/main">
  <p:tag name="KSO_WM_DIAGRAM_VIRTUALLY_FRAME" val="{&quot;height&quot;:262.05,&quot;left&quot;:126.9,&quot;top&quot;:170.35,&quot;width&quot;:708.4}"/>
</p:tagLst>
</file>

<file path=ppt/tags/tag113.xml><?xml version="1.0" encoding="utf-8"?>
<p:tagLst xmlns:p="http://schemas.openxmlformats.org/presentationml/2006/main">
  <p:tag name="KSO_WM_DIAGRAM_VIRTUALLY_FRAME" val="{&quot;height&quot;:262.05,&quot;left&quot;:126.9,&quot;top&quot;:170.35,&quot;width&quot;:708.4}"/>
</p:tagLst>
</file>

<file path=ppt/tags/tag114.xml><?xml version="1.0" encoding="utf-8"?>
<p:tagLst xmlns:p="http://schemas.openxmlformats.org/presentationml/2006/main">
  <p:tag name="KSO_WM_DIAGRAM_VIRTUALLY_FRAME" val="{&quot;height&quot;:262.05,&quot;left&quot;:126.9,&quot;top&quot;:170.35,&quot;width&quot;:708.4}"/>
</p:tagLst>
</file>

<file path=ppt/tags/tag115.xml><?xml version="1.0" encoding="utf-8"?>
<p:tagLst xmlns:p="http://schemas.openxmlformats.org/presentationml/2006/main">
  <p:tag name="KSO_WM_DIAGRAM_VIRTUALLY_FRAME" val="{&quot;height&quot;:262.05,&quot;left&quot;:126.9,&quot;top&quot;:170.35,&quot;width&quot;:708.4}"/>
</p:tagLst>
</file>

<file path=ppt/tags/tag116.xml><?xml version="1.0" encoding="utf-8"?>
<p:tagLst xmlns:p="http://schemas.openxmlformats.org/presentationml/2006/main">
  <p:tag name="KSO_WM_DIAGRAM_VIRTUALLY_FRAME" val="{&quot;height&quot;:262.05,&quot;left&quot;:126.9,&quot;top&quot;:170.35,&quot;width&quot;:708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2756</Words>
  <Application>WPS 演示</Application>
  <PresentationFormat>On-screen Show (4:3)</PresentationFormat>
  <Paragraphs>431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Arial</vt:lpstr>
      <vt:lpstr>宋体</vt:lpstr>
      <vt:lpstr>Wingdings</vt:lpstr>
      <vt:lpstr>Arial</vt:lpstr>
      <vt:lpstr>微软雅黑</vt:lpstr>
      <vt:lpstr>方正北魏楷书简体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Jessica</cp:lastModifiedBy>
  <cp:revision>49</cp:revision>
  <dcterms:created xsi:type="dcterms:W3CDTF">2013-01-27T09:14:00Z</dcterms:created>
  <dcterms:modified xsi:type="dcterms:W3CDTF">2026-06-16T17:35:13Z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89B9930B35854416A891D0EBF21D33DE_12</vt:lpwstr>
  </property>
  <property fmtid="{D5CDD505-2E9C-101B-9397-08002B2CF9AE}" pid="3" name="KSOProductBuildVer">
    <vt:lpwstr>2052-12.1.0.26895</vt:lpwstr>
  </property>
</Properties>
</file>