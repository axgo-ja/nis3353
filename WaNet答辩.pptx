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6" Type="http://schemas.openxmlformats.org/officeDocument/2006/relationships/slideLayout" Target="../slideLayouts/slideLayout7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0" y="2194560"/>
            <a:ext cx="6705295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0" y="2468880"/>
            <a:ext cx="6705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Warping后门攻击的频域弱点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474720"/>
            <a:ext cx="6705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WaNet 复现与分析  ·  AI安全课程设计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9710" y="4114800"/>
            <a:ext cx="1692275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蒋竺君</a:t>
            </a:r>
            <a:r>
              <a:rPr>
                <a:sym typeface="+mn-ea"/>
              </a:rPr>
              <a:t> ·  周争妍 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937760"/>
            <a:ext cx="6705295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什么是后门攻击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6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深度学习模型在训练阶段可被植入后门</a:t>
            </a: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攻击者在训练数据中混入带触发器的样本</a:t>
            </a:r>
          </a:p>
          <a:p>
            <a:pPr>
              <a:spcAft>
                <a:spcPts val="560"/>
              </a:spcAft>
              <a:defRPr sz="16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正常图 -&gt; 正常分类  |  带触发器的图 -&gt; 攻击者指定标签</a:t>
            </a: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传统触发器: 白色方块 / 水印 / 正弦波纹 (人眼可见)</a:t>
            </a:r>
          </a:p>
          <a:p>
            <a:pPr>
              <a:spcAft>
                <a:spcPts val="560"/>
              </a:spcAft>
              <a:defRPr sz="16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-&gt; 防御方法 (STRIP / Neural Cleanse) 可以检测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188720"/>
            <a:ext cx="2286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35800" y="1315720"/>
            <a:ext cx="1930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BadNets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35800" y="1595120"/>
            <a:ext cx="193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白色Patch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5800" y="2123440"/>
            <a:ext cx="19304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可见触发器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188720"/>
            <a:ext cx="2286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96120" y="1315720"/>
            <a:ext cx="1930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Blend/SIG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6120" y="1595120"/>
            <a:ext cx="193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叠加图案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6120" y="2123440"/>
            <a:ext cx="19304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可见触发器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2743200"/>
            <a:ext cx="4846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35800" y="2870200"/>
            <a:ext cx="449072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共同问题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5800" y="3149600"/>
            <a:ext cx="449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人眼可见 + 防御可检测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5800" y="3677920"/>
            <a:ext cx="44907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需要更隐蔽的触发器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3891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WaNet的答案: 用图像形变替代可见Patch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WaNet: 基于图像形变的后门攻击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Nguyen &amp; Tran, ICLR 2021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核心思想:</a:t>
            </a:r>
          </a:p>
          <a:p>
            <a:pPr>
              <a:spcAft>
                <a:spcPts val="560"/>
              </a:spcAft>
              <a:defRPr sz="16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用图像空间形变(Warping)替代可见Patch作为后门触发器</a:t>
            </a: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60"/>
              </a:spcAft>
              <a:defRPr sz="1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怎么做:</a:t>
            </a: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1. 生成 k*k 随机控制网格, 定义平滑的像素位移场</a:t>
            </a: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2. 对图像做微小形变 (亚像素级) -&gt; 后门样本</a:t>
            </a: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3. 模型学到该形变模式与目标标签的关联</a:t>
            </a:r>
          </a:p>
          <a:p>
            <a:pPr>
              <a:spcAft>
                <a:spcPts val="560"/>
              </a:spcAft>
              <a:defRPr sz="16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4. 人眼完全无法察觉形变</a:t>
            </a: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60"/>
              </a:spcAft>
              <a:defRPr sz="1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关键设计: Noise Mode</a:t>
            </a:r>
          </a:p>
          <a:p>
            <a:pPr>
              <a:spcAft>
                <a:spcPts val="560"/>
              </a:spcAft>
              <a:defRPr sz="16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训练时加入随机形变的噪声样本, 迫使模型学习真正的warping而非像素捷径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800" y="1498600"/>
            <a:ext cx="4216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WaNet 攻击效果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5800" y="1778000"/>
            <a:ext cx="421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t>ASR = 99.15%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35800" y="2489200"/>
            <a:ext cx="42164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人眼完全不可见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20040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35800" y="3327400"/>
            <a:ext cx="4216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绕过防御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5800" y="3606800"/>
            <a:ext cx="421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STRIP / NC / FP 全部失效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35800" y="4318000"/>
            <a:ext cx="42164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现有防御无法检测</a:t>
            </a: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3385" y="1188720"/>
            <a:ext cx="5429250" cy="2066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我们的工作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>
            <p:custDataLst>
              <p:tags r:id="rId1"/>
            </p:custDataLst>
          </p:nvPr>
        </p:nvSpPr>
        <p:spPr>
          <a:xfrm>
            <a:off x="731520" y="1645920"/>
            <a:ext cx="3200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1853565" y="1772920"/>
            <a:ext cx="956310" cy="2603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阶段一: 复现</a:t>
            </a: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909320" y="2052320"/>
            <a:ext cx="284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3数据集x2模式</a:t>
            </a: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909320" y="3677920"/>
            <a:ext cx="28448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STRIP/NC/FP防御验证</a:t>
            </a: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914400" y="283464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主实验复现, 确认WaNet</a:t>
            </a:r>
            <a:br/>
            <a:r>
              <a:t>确实绕过所有现有防御</a:t>
            </a: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4480560" y="1645920"/>
            <a:ext cx="3200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5602605" y="1772920"/>
            <a:ext cx="956310" cy="2603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阶段二: 消融</a:t>
            </a: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4658360" y="2052320"/>
            <a:ext cx="284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t>Noise/s/k参数扫描</a:t>
            </a: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4658360" y="3677920"/>
            <a:ext cx="28448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发现参数高度敏感规律</a:t>
            </a: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4663440" y="283464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深入拆解warping机制</a:t>
            </a:r>
            <a:br/>
            <a:r>
              <a:t>s&lt;0.5或k&lt;4时攻击大幅下降</a:t>
            </a:r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8229600" y="1645920"/>
            <a:ext cx="3200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9351645" y="1772920"/>
            <a:ext cx="956310" cy="2603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阶段三: 创新</a:t>
            </a: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8407400" y="2052320"/>
            <a:ext cx="284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频域检测器</a:t>
            </a:r>
          </a:p>
        </p:txBody>
      </p:sp>
      <p:sp>
        <p:nvSpPr>
          <p:cNvPr id="17" name="TextBox 16"/>
          <p:cNvSpPr txBox="1"/>
          <p:nvPr>
            <p:custDataLst>
              <p:tags r:id="rId14"/>
            </p:custDataLst>
          </p:nvPr>
        </p:nvSpPr>
        <p:spPr>
          <a:xfrm>
            <a:off x="8407400" y="3677920"/>
            <a:ext cx="28448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AUC 0.735 vs STRIP 0.50</a:t>
            </a:r>
          </a:p>
        </p:txBody>
      </p:sp>
      <p:sp>
        <p:nvSpPr>
          <p:cNvPr id="18" name="TextBox 17"/>
          <p:cNvSpPr txBox="1"/>
          <p:nvPr>
            <p:custDataLst>
              <p:tags r:id="rId15"/>
            </p:custDataLst>
          </p:nvPr>
        </p:nvSpPr>
        <p:spPr>
          <a:xfrm>
            <a:off x="8412480" y="283464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Warping=插值-&gt;频域留痕</a:t>
            </a:r>
            <a:br/>
            <a:r>
              <a:t>首次从图像信号检测warping后门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核心贡献: 现有防御看模型行为-&gt;检测不到; 我们看图像信号-&gt;能检测到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主实验复现结果 (CIFAR-10)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9320" y="1772920"/>
            <a:ext cx="220472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Clean Acc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320" y="2052320"/>
            <a:ext cx="220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t>92.84%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320" y="2672080"/>
            <a:ext cx="22047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论文 94.15%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25603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3960" y="1772920"/>
            <a:ext cx="220472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ASR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3960" y="2052320"/>
            <a:ext cx="220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99.15%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3960" y="2672080"/>
            <a:ext cx="22047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论文 99.55%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45920"/>
            <a:ext cx="25603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8600" y="1772920"/>
            <a:ext cx="220472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Cross Acc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8600" y="2052320"/>
            <a:ext cx="220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t>89.71%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8600" y="2672080"/>
            <a:ext cx="22047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论文 93.55%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3240" y="1772920"/>
            <a:ext cx="220472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Cross(无Noise)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3240" y="2052320"/>
            <a:ext cx="220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3240" y="2672080"/>
            <a:ext cx="22047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关键发现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474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  <a:defRPr sz="15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防御验证:</a:t>
            </a:r>
          </a:p>
          <a:p>
            <a:pPr>
              <a:spcAft>
                <a:spcPts val="525"/>
              </a:spcAft>
              <a:defRPr sz="15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STRIP: Entropy分布无法区分 -&gt; 检测失败</a:t>
            </a:r>
          </a:p>
          <a:p>
            <a:pPr>
              <a:spcAft>
                <a:spcPts val="525"/>
              </a:spcAft>
              <a:defRPr sz="15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Fine-Pruning: 剪枝后ASR仍&gt;90% -&gt; 无法消除</a:t>
            </a:r>
          </a:p>
          <a:p>
            <a:pPr>
              <a:spcAft>
                <a:spcPts val="525"/>
              </a:spcAft>
              <a:defRPr sz="15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Neural Cleanse: Anomaly Index&lt;2 -&gt; 检测不到</a:t>
            </a:r>
          </a:p>
          <a:p>
            <a:pPr>
              <a:spcAft>
                <a:spcPts val="525"/>
              </a:spcAft>
              <a:defRPr sz="15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t>结论: WaNet确实能绕过所有三种现有防御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消融实验: Noise Mode的关键作用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9320" y="1955800"/>
            <a:ext cx="46736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With Noise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320" y="2235200"/>
            <a:ext cx="467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t>Cross Acc = 89.71%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320" y="3586480"/>
            <a:ext cx="46736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Neural Cleanse 检测不到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029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5720" y="1955800"/>
            <a:ext cx="46736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Without Noise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5720" y="2235200"/>
            <a:ext cx="467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Cross Acc = 0.00%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5720" y="3586480"/>
            <a:ext cx="46736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Neural Cleanse 能检测到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Noise Mode是WaNet绕过防御的决定性因素。</a:t>
            </a:r>
            <a:br/>
            <a:r>
              <a:t>无Noise: 模型学到像素捷径-&gt;被NC发现。有Noise: 模型被迫学习真正的warping-&gt;防御失效。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消融实验: Warping参数敏感性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Warping强度 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9320" y="2138680"/>
            <a:ext cx="202184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 = 0.25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320" y="2418080"/>
            <a:ext cx="202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ASR 74%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320" y="3037840"/>
            <a:ext cx="20218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太弱-&gt;失效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1080" y="2138680"/>
            <a:ext cx="202184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 = 0.50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1080" y="2418080"/>
            <a:ext cx="202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t>ASR 99.59%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080" y="3037840"/>
            <a:ext cx="20218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最优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01168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2840" y="2138680"/>
            <a:ext cx="202184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 = 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2840" y="2418080"/>
            <a:ext cx="202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ASR 98.29%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2840" y="3037840"/>
            <a:ext cx="20218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饱和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576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网格大小 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320" y="4333240"/>
            <a:ext cx="202184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k =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320" y="4612640"/>
            <a:ext cx="202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ASR 92.82%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320" y="5232400"/>
            <a:ext cx="20218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太粗-&gt;被当噪声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20624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1080" y="4333240"/>
            <a:ext cx="202184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k =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1080" y="4612640"/>
            <a:ext cx="202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t>ASR 99.15%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1080" y="5232400"/>
            <a:ext cx="20218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最优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420624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2840" y="4333240"/>
            <a:ext cx="202184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k =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2840" y="4612640"/>
            <a:ext cx="202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ASR 97.55%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2840" y="5232400"/>
            <a:ext cx="20218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饱和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1645920"/>
            <a:ext cx="25603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关键发现</a:t>
            </a:r>
            <a:br/>
            <a:br/>
            <a:r>
              <a:t>WaNet对参数</a:t>
            </a:r>
            <a:br/>
            <a:r>
              <a:t>高度敏感</a:t>
            </a:r>
            <a:br/>
            <a:br/>
            <a:r>
              <a:t>s&lt;0.5或k&lt;4时</a:t>
            </a:r>
            <a:br/>
            <a:r>
              <a:t>攻击大幅下降</a:t>
            </a:r>
            <a:br/>
            <a:br/>
            <a:r>
              <a:t>存在狭窄的</a:t>
            </a:r>
            <a:br/>
            <a:r>
              <a:t>有效参数区间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核心洞察: Warping在频域留下痕迹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5"/>
              </a:spcAft>
              <a:defRPr sz="17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消融实验揭示了一个重要线索:</a:t>
            </a:r>
          </a:p>
          <a:p>
            <a:pPr>
              <a:spcAft>
                <a:spcPts val="595"/>
              </a:spcAft>
              <a:defRPr sz="17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WaNet 的 warping 到底是怎么实现的？</a:t>
            </a:r>
          </a:p>
          <a:p>
            <a:pPr>
              <a:spcAft>
                <a:spcPts val="595"/>
              </a:spcAft>
              <a:defRPr sz="17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它调用的是 PyTorch 的 grid_sample 函数 + 双线性插值 (bilinear interpolation)</a:t>
            </a:r>
          </a:p>
          <a:p>
            <a:pPr>
              <a:spcAft>
                <a:spcPts val="595"/>
              </a:spcAft>
              <a:defRPr sz="1700" b="0">
                <a:solidFill>
                  <a:srgbClr val="8C8C8C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95"/>
              </a:spcAft>
              <a:defRPr sz="17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而插值运算本质上是一种信号处理操作 ——</a:t>
            </a:r>
          </a:p>
          <a:p>
            <a:pPr>
              <a:spcAft>
                <a:spcPts val="595"/>
              </a:spcAft>
              <a:defRPr sz="17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每个新像素 = 周围像素的加权平均 -&gt; 必然在频域留下痕迹!</a:t>
            </a:r>
          </a:p>
          <a:p>
            <a:pPr>
              <a:spcAft>
                <a:spcPts val="595"/>
              </a:spcAft>
              <a:defRPr sz="1700" b="0">
                <a:solidFill>
                  <a:srgbClr val="8C8C8C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95"/>
              </a:spcAft>
              <a:defRPr sz="17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全新检测思路:</a:t>
            </a:r>
          </a:p>
          <a:p>
            <a:pPr>
              <a:spcAft>
                <a:spcPts val="595"/>
              </a:spcAft>
              <a:defRPr sz="17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现有防御: 看模型输出 -&gt; 检测不到WaNet</a:t>
            </a:r>
          </a:p>
          <a:p>
            <a:pPr>
              <a:spcAft>
                <a:spcPts val="595"/>
              </a:spcAft>
              <a:defRPr sz="17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t>我们的方法: 看图像频域(FFT) -&gt; 能检测到!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828800"/>
            <a:ext cx="4572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Warping的本质</a:t>
            </a:r>
            <a:br/>
            <a:br/>
            <a:r>
              <a:t>grid_sample对图像</a:t>
            </a:r>
            <a:br/>
            <a:r>
              <a:t>做双线性插值</a:t>
            </a:r>
            <a:br/>
            <a:br/>
            <a:r>
              <a:t>每个插值点=周围像素</a:t>
            </a:r>
            <a:br/>
            <a:r>
              <a:t>的加权平均</a:t>
            </a:r>
            <a:br/>
            <a:br/>
            <a:r>
              <a:t>-&gt; 频域高频分量异常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1069848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这是论文从未探讨过的维度: 不可感知 != 不可检测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频域Warping检测器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0116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9320" y="1955800"/>
            <a:ext cx="165608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STEP1: 图像对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320" y="2235200"/>
            <a:ext cx="165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Clean+Warped</a:t>
            </a:r>
            <a:br/>
            <a:r>
              <a:t>各500张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1828800"/>
            <a:ext cx="20116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95320" y="1955800"/>
            <a:ext cx="165608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STEP2: FFT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95320" y="2235200"/>
            <a:ext cx="165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傅里叶变换</a:t>
            </a:r>
            <a:br/>
            <a:r>
              <a:t>频谱图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1828800"/>
            <a:ext cx="20116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1320" y="1955800"/>
            <a:ext cx="165608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STEP3: 特征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1320" y="2235200"/>
            <a:ext cx="165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高频能量比</a:t>
            </a:r>
            <a:br/>
            <a:r>
              <a:t>频谱熵等6维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828800"/>
            <a:ext cx="20116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67320" y="1955800"/>
            <a:ext cx="165608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STEP4: SVM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67320" y="2235200"/>
            <a:ext cx="165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RBF核SVM</a:t>
            </a:r>
            <a:br/>
            <a:r>
              <a:t>30%测试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-&gt;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0" y="1828800"/>
            <a:ext cx="20116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3320" y="1955800"/>
            <a:ext cx="165608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STEP5: 评估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3320" y="2235200"/>
            <a:ext cx="165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ROC vs STRIP</a:t>
            </a:r>
            <a:br/>
            <a:r>
              <a:t>AUC 0.735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114800"/>
            <a:ext cx="50292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320" y="4241800"/>
            <a:ext cx="46736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6维频域特征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320" y="4521200"/>
            <a:ext cx="467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t>高频能量比 / 频谱熵 / 均值频率 / 方差频率 / 低频能量比 / 中频能量比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114800"/>
            <a:ext cx="50292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5720" y="4241800"/>
            <a:ext cx="46736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检测结果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5720" y="4521200"/>
            <a:ext cx="467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t>Acc=67.33%  |  AUC=0.735  |  STRIP AUC=0.50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频域可视化: Clean vs Warped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图片 16" descr="fft_spectrum_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2675" y="1368425"/>
            <a:ext cx="7974965" cy="51269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检测性能: 频域检测器 vs STRIP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9320" y="1955800"/>
            <a:ext cx="311912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频域检测器 (Ours)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320" y="2235200"/>
            <a:ext cx="311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t>AUC = 0.735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320" y="3403600"/>
            <a:ext cx="31191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准确率 67.33%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82880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49800" y="1955800"/>
            <a:ext cx="311912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STRIP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49800" y="2235200"/>
            <a:ext cx="311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AUC = 0.50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9800" y="3403600"/>
            <a:ext cx="31191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等同随机猜测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828800"/>
            <a:ext cx="32004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0280" y="1955800"/>
            <a:ext cx="28448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提升幅度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0280" y="2235200"/>
            <a:ext cx="284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+23.5% 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0280" y="3403600"/>
            <a:ext cx="28448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远超随机基线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插入 results/freq_detector/roc_curve.png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STRIP看模型输出熵-&gt;无法区分(AUC=0.50)  |  频域检测器看图像信号-&gt;能有效检测(AUC=0.735)</a:t>
            </a:r>
          </a:p>
        </p:txBody>
      </p:sp>
      <p:pic>
        <p:nvPicPr>
          <p:cNvPr id="18" name="图片 17" descr="roc_curv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4965" y="52705"/>
            <a:ext cx="2752090" cy="20643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全部实验结果汇总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1563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Epochs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Clean Acc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ASR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Cross Acc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Noise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99.15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Baseline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Noise WITHOUT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92.74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98.21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Noise is KEY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s=0.25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74.12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 too small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s=0.50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99.59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Optimal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s=1.00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98.29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Saturated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k=2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92.14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92.82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88.95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k too small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k=4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99.15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Optimal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k=8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91.94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97.55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88.04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Saturated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Seed=0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99.59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Stable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Seed=1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98.70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88.72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Stable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097280"/>
            <a:ext cx="8534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828800"/>
            <a:ext cx="3047695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377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23774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WaNet攻击高度有效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74320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CIFAR-10上ASR达99.15%, Clean保持92.84%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33832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Noise Mode是绕过防御的关键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3749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无Noise时Cross=0%, 后门可被Neural Cleanse检测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389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3891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Warping参数高度敏感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475488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s&lt;0.5或k&lt;4时攻击大幅下降 — 存在狭窄有效区间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3949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53949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频域检测: 我们的创新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57607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首次从图像信号层面检测warping后门, AUC 0.735远超市面上最强的STRIP(0.50)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8534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成员分工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103120"/>
            <a:ext cx="3047695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2743200"/>
            <a:ext cx="3840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6600" y="2870200"/>
            <a:ext cx="348488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周争妍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6600" y="3149600"/>
            <a:ext cx="348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主实验复现+防御验证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6600" y="4289425"/>
            <a:ext cx="348488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3数据集 x 2模式</a:t>
            </a:r>
            <a:br/>
            <a:r>
              <a:t>STRIP / Fine-Pruning / Neural Cleanse</a:t>
            </a:r>
            <a:br/>
            <a:r>
              <a:t>环境配置 + tmux并行脚本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743200"/>
            <a:ext cx="3840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0040" y="2870200"/>
            <a:ext cx="348488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蒋竺君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0040" y="3149600"/>
            <a:ext cx="348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t>消融实验+频域检测器+可视化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0163" y="4289425"/>
            <a:ext cx="152463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Noise/s/k参数扫描 (10组)</a:t>
            </a:r>
            <a:br/>
            <a:r>
              <a:t>频域检测器 (AUC 0.735)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0" y="2560320"/>
            <a:ext cx="6705295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92268" y="2834640"/>
            <a:ext cx="1407160" cy="8299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t>感谢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931920"/>
            <a:ext cx="6705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t>WaNet复现与分析  ·  AI安全课程设计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572000"/>
            <a:ext cx="6705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t>github.com/axgo-ja/NIS3353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5303520"/>
            <a:ext cx="6705295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2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3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4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5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6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7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8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9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10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11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12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13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14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ags/tag15.xml><?xml version="1.0" encoding="utf-8"?>
<p:tagLst xmlns:p="http://schemas.openxmlformats.org/presentationml/2006/main">
  <p:tag name="KSO_WM_DIAGRAM_VIRTUALLY_FRAME" val="{&quot;height&quot;:180,&quot;left&quot;:57.6,&quot;top&quot;:129.6,&quot;width&quot;:842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2981</Words>
  <Application>WPS 演示</Application>
  <PresentationFormat>On-screen Show (4:3)</PresentationFormat>
  <Paragraphs>444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Jessica</cp:lastModifiedBy>
  <cp:revision>6</cp:revision>
  <dcterms:created xsi:type="dcterms:W3CDTF">2013-01-27T09:14:00Z</dcterms:created>
  <dcterms:modified xsi:type="dcterms:W3CDTF">2026-06-16T14:57:22Z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89B9930B35854416A891D0EBF21D33DE_12</vt:lpwstr>
  </property>
  <property fmtid="{D5CDD505-2E9C-101B-9397-08002B2CF9AE}" pid="3" name="KSOProductBuildVer">
    <vt:lpwstr>2052-12.1.0.26895</vt:lpwstr>
  </property>
</Properties>
</file>