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194560"/>
            <a:ext cx="6705295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468880"/>
            <a:ext cx="6705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3D3D3D"/>
                </a:solidFill>
                <a:latin typeface="Microsoft YaHei"/>
              </a:defRPr>
            </a:pPr>
            <a:r>
              <a:t>Warping后门攻击的频域弱点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474720"/>
            <a:ext cx="670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8C8C8C"/>
                </a:solidFill>
                <a:latin typeface="Microsoft YaHei"/>
              </a:defRPr>
            </a:pPr>
            <a:r>
              <a:t>WaNet 复现与分析  ·  AI安全课程设计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114800"/>
            <a:ext cx="670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C2A497"/>
                </a:solidFill>
                <a:latin typeface="Microsoft YaHei"/>
              </a:defRPr>
            </a:pPr>
            <a:r>
              <a:t>周争妍  ·  蒋竺君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937760"/>
            <a:ext cx="6705295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什么是后门攻击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1">
                <a:solidFill>
                  <a:srgbClr val="3D3D3D"/>
                </a:solidFill>
                <a:latin typeface="Microsoft YaHei"/>
              </a:defRPr>
            </a:pPr>
            <a:r>
              <a:t>深度学习模型在训练阶段可被植入后门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  <a:r>
              <a:t>攻击者在训练数据中混入带触发器的样本</a:t>
            </a:r>
          </a:p>
          <a:p>
            <a:pPr>
              <a:spcAft>
                <a:spcPts val="560"/>
              </a:spcAft>
              <a:defRPr sz="1600" b="0">
                <a:solidFill>
                  <a:srgbClr val="D4847A"/>
                </a:solidFill>
                <a:latin typeface="Microsoft YaHei"/>
              </a:defRPr>
            </a:pPr>
            <a:r>
              <a:t>正常图 -&gt; 正常分类  |  带触发器的图 -&gt; 攻击者指定标签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  <a:r>
              <a:t>传统触发器: 白色方块 / 水印 / 正弦波纹 (人眼可见)</a:t>
            </a:r>
          </a:p>
          <a:p>
            <a:pPr>
              <a:spcAft>
                <a:spcPts val="560"/>
              </a:spcAft>
              <a:defRPr sz="1600" b="0">
                <a:solidFill>
                  <a:srgbClr val="D4847A"/>
                </a:solidFill>
                <a:latin typeface="Microsoft YaHei"/>
              </a:defRPr>
            </a:pPr>
            <a:r>
              <a:t>-&gt; 防御方法 (STRIP / Neural Cleanse) 可以检测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188720"/>
            <a:ext cx="2286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35800" y="1315720"/>
            <a:ext cx="1930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BadNets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5800" y="1595120"/>
            <a:ext cx="193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白色Patch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35800" y="2123440"/>
            <a:ext cx="1930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可见触发器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188720"/>
            <a:ext cx="2286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96120" y="1315720"/>
            <a:ext cx="1930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Blend/SIG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6120" y="1595120"/>
            <a:ext cx="193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叠加图案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96120" y="2123440"/>
            <a:ext cx="1930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可见触发器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2743200"/>
            <a:ext cx="48463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35800" y="2870200"/>
            <a:ext cx="44907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共同问题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5800" y="3149600"/>
            <a:ext cx="4490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C2A497"/>
                </a:solidFill>
                <a:latin typeface="Microsoft YaHei"/>
              </a:defRPr>
            </a:pPr>
            <a:r>
              <a:t>人眼可见 + 防御可检测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5800" y="3677920"/>
            <a:ext cx="44907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需要更隐蔽的触发器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3891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C2A497"/>
                </a:solidFill>
                <a:latin typeface="Microsoft YaHei"/>
              </a:defRPr>
            </a:pPr>
            <a:r>
              <a:t>WaNet的答案: 用图像形变替代可见Patch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WaNet: 基于图像形变的后门攻击 (ICLR 2021)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60"/>
              </a:spcAft>
              <a:defRPr sz="1600" b="1">
                <a:solidFill>
                  <a:srgbClr val="C2A497"/>
                </a:solidFill>
                <a:latin typeface="Microsoft YaHei"/>
              </a:defRPr>
            </a:pPr>
            <a:r>
              <a:t>核心思想:</a:t>
            </a:r>
          </a:p>
          <a:p>
            <a:pPr>
              <a:spcAft>
                <a:spcPts val="560"/>
              </a:spcAft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用图像空间形变(Warping)替代可见Patch作为后门触发器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</a:p>
          <a:p>
            <a:pPr>
              <a:spcAft>
                <a:spcPts val="560"/>
              </a:spcAft>
              <a:defRPr sz="1600" b="1">
                <a:solidFill>
                  <a:srgbClr val="C2A497"/>
                </a:solidFill>
                <a:latin typeface="Microsoft YaHei"/>
              </a:defRPr>
            </a:pPr>
            <a:r>
              <a:t>怎么做: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  <a:r>
              <a:t>1. 生成 k*k 随机控制网格, 定义平滑的像素位移场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  <a:r>
              <a:t>2. 对图像做微小形变 (亚像素级) -&gt; 后门样本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  <a:r>
              <a:t>3. 模型学到该形变模式与目标标签的关联</a:t>
            </a:r>
          </a:p>
          <a:p>
            <a:pPr>
              <a:spcAft>
                <a:spcPts val="560"/>
              </a:spcAft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4. 人眼完全无法察觉形变</a:t>
            </a:r>
          </a:p>
          <a:p>
            <a:pPr>
              <a:spcAft>
                <a:spcPts val="560"/>
              </a:spcAft>
              <a:defRPr sz="1600" b="0">
                <a:solidFill>
                  <a:srgbClr val="8C8C8C"/>
                </a:solidFill>
                <a:latin typeface="Microsoft YaHei"/>
              </a:defRPr>
            </a:pPr>
          </a:p>
          <a:p>
            <a:pPr>
              <a:spcAft>
                <a:spcPts val="560"/>
              </a:spcAft>
              <a:defRPr sz="1600" b="1">
                <a:solidFill>
                  <a:srgbClr val="C2A497"/>
                </a:solidFill>
                <a:latin typeface="Microsoft YaHei"/>
              </a:defRPr>
            </a:pPr>
            <a:r>
              <a:t>关键设计: Noise Mode</a:t>
            </a:r>
          </a:p>
          <a:p>
            <a:pPr>
              <a:spcAft>
                <a:spcPts val="560"/>
              </a:spcAft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训练时加入随机形变的噪声样本, 迫使模型学习真正的warping而非像素捷径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371600"/>
            <a:ext cx="4572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35800" y="1498600"/>
            <a:ext cx="4216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WaNet 攻击效果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35800" y="1778000"/>
            <a:ext cx="421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ASR = 99.15%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35800" y="2489200"/>
            <a:ext cx="4216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人眼完全不可见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200400"/>
            <a:ext cx="4572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35800" y="3327400"/>
            <a:ext cx="42164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绕过防御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5800" y="3606800"/>
            <a:ext cx="421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STRIP / NC / FP 全部失效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35800" y="4318000"/>
            <a:ext cx="42164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现有防御无法检测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我们的工作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00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320" y="1772920"/>
            <a:ext cx="28448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阶段一: 复现 (周争妍)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320" y="2052320"/>
            <a:ext cx="284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3数据集x2模式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320" y="3677920"/>
            <a:ext cx="28448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STRIP/NC/FP防御验证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主实验复现, 确认WaNet</a:t>
            </a:r>
            <a:br/>
            <a:r>
              <a:t>确实绕过所有现有防御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45920"/>
            <a:ext cx="3200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8360" y="1772920"/>
            <a:ext cx="28448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阶段二: 消融 (蒋竺君)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8360" y="2052320"/>
            <a:ext cx="284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9B9EC0"/>
                </a:solidFill>
                <a:latin typeface="Microsoft YaHei"/>
              </a:defRPr>
            </a:pPr>
            <a:r>
              <a:t>Noise/s/k参数扫描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8360" y="3677920"/>
            <a:ext cx="28448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发现参数高度敏感规律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深入拆解warping机制</a:t>
            </a:r>
            <a:br/>
            <a:r>
              <a:t>s&lt;0.5或k&lt;4时攻击大幅下降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45920"/>
            <a:ext cx="32004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7400" y="1772920"/>
            <a:ext cx="28448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阶段三: 创新 (蒋竺君)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7400" y="2052320"/>
            <a:ext cx="284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C2A497"/>
                </a:solidFill>
                <a:latin typeface="Microsoft YaHei"/>
              </a:defRPr>
            </a:pPr>
            <a:r>
              <a:t>频域检测器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7400" y="3677920"/>
            <a:ext cx="28448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AUC 0.735 vs STRIP 0.50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Warping=插值-&gt;频域留痕</a:t>
            </a:r>
            <a:br/>
            <a:r>
              <a:t>首次从图像信号检测warping后门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3D3D3D"/>
                </a:solidFill>
                <a:latin typeface="Microsoft YaHei"/>
              </a:defRPr>
            </a:pPr>
            <a:r>
              <a:t>核心贡献: 现有防御看模型行为-&gt;检测不到; 我们看图像信号-&gt;能检测到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主实验复现结果 (CIFAR-10)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320" y="1772920"/>
            <a:ext cx="22047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Clean Acc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320" y="2052320"/>
            <a:ext cx="220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92.84%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320" y="2672080"/>
            <a:ext cx="22047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论文 94.15%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64592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3960" y="1772920"/>
            <a:ext cx="22047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ASR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3960" y="2052320"/>
            <a:ext cx="220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99.15%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3960" y="2672080"/>
            <a:ext cx="22047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论文 99.55%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78600" y="1772920"/>
            <a:ext cx="22047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Cross Acc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8600" y="2052320"/>
            <a:ext cx="220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9B9EC0"/>
                </a:solidFill>
                <a:latin typeface="Microsoft YaHei"/>
              </a:defRPr>
            </a:pPr>
            <a:r>
              <a:t>89.71%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8600" y="2672080"/>
            <a:ext cx="22047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论文 93.55%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645920"/>
            <a:ext cx="256032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3240" y="1772920"/>
            <a:ext cx="22047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Cross(无Noise)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3240" y="2052320"/>
            <a:ext cx="220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0.00%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3240" y="2672080"/>
            <a:ext cx="22047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关键发现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25"/>
              </a:spcAft>
              <a:defRPr sz="1500" b="1">
                <a:solidFill>
                  <a:srgbClr val="3D3D3D"/>
                </a:solidFill>
                <a:latin typeface="Microsoft YaHei"/>
              </a:defRPr>
            </a:pPr>
            <a:r>
              <a:t>防御验证:</a:t>
            </a:r>
          </a:p>
          <a:p>
            <a:pPr>
              <a:spcAft>
                <a:spcPts val="525"/>
              </a:spcAft>
              <a:defRPr sz="1500" b="0">
                <a:solidFill>
                  <a:srgbClr val="D4847A"/>
                </a:solidFill>
                <a:latin typeface="Microsoft YaHei"/>
              </a:defRPr>
            </a:pPr>
            <a:r>
              <a:t>STRIP: Entropy分布无法区分 -&gt; 检测失败</a:t>
            </a:r>
          </a:p>
          <a:p>
            <a:pPr>
              <a:spcAft>
                <a:spcPts val="525"/>
              </a:spcAft>
              <a:defRPr sz="1500" b="0">
                <a:solidFill>
                  <a:srgbClr val="D4847A"/>
                </a:solidFill>
                <a:latin typeface="Microsoft YaHei"/>
              </a:defRPr>
            </a:pPr>
            <a:r>
              <a:t>Fine-Pruning: 剪枝后ASR仍&gt;90% -&gt; 无法消除</a:t>
            </a:r>
          </a:p>
          <a:p>
            <a:pPr>
              <a:spcAft>
                <a:spcPts val="525"/>
              </a:spcAft>
              <a:defRPr sz="1500" b="0">
                <a:solidFill>
                  <a:srgbClr val="D4847A"/>
                </a:solidFill>
                <a:latin typeface="Microsoft YaHei"/>
              </a:defRPr>
            </a:pPr>
            <a:r>
              <a:t>Neural Cleanse: Anomaly Index&lt;2 -&gt; 检测不到</a:t>
            </a:r>
          </a:p>
          <a:p>
            <a:pPr>
              <a:spcAft>
                <a:spcPts val="525"/>
              </a:spcAft>
              <a:defRPr sz="1500" b="1">
                <a:solidFill>
                  <a:srgbClr val="9B9EC0"/>
                </a:solidFill>
                <a:latin typeface="Microsoft YaHei"/>
              </a:defRPr>
            </a:pPr>
            <a:r>
              <a:t>结论: WaNet确实能绕过所有三种现有防御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消融实验: Noise Mode的关键作用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320" y="1955800"/>
            <a:ext cx="4673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With Noise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320" y="2235200"/>
            <a:ext cx="467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Cross Acc = 89.71%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320" y="3586480"/>
            <a:ext cx="46736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Neural Cleanse 检测不到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5720" y="1955800"/>
            <a:ext cx="4673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Without Noise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5720" y="2235200"/>
            <a:ext cx="467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Cross Acc = 0.00%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5720" y="3586480"/>
            <a:ext cx="46736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Neural Cleanse 能检测到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3D3D3D"/>
                </a:solidFill>
                <a:latin typeface="Microsoft YaHei"/>
              </a:defRPr>
            </a:pPr>
            <a:r>
              <a:t>Noise Mode是WaNet绕过防御的决定性因素。</a:t>
            </a:r>
            <a:br/>
            <a:r>
              <a:t>无Noise: 模型学到像素捷径-&gt;被NC发现。有Noise: 模型被迫学习真正的warping-&gt;防御失效。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消融实验: Warping参数敏感性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2A497"/>
                </a:solidFill>
                <a:latin typeface="Microsoft YaHei"/>
              </a:defRPr>
            </a:pPr>
            <a:r>
              <a:t>Warping强度 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9320" y="2138680"/>
            <a:ext cx="202184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 = 0.25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320" y="2418080"/>
            <a:ext cx="202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ASR 74%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320" y="3037840"/>
            <a:ext cx="202184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太弱-&gt;失效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1080" y="2138680"/>
            <a:ext cx="202184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 = 0.50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1080" y="2418080"/>
            <a:ext cx="202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ASR 99.59%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1080" y="3037840"/>
            <a:ext cx="202184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最优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2840" y="2138680"/>
            <a:ext cx="202184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 = 1.00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2840" y="2418080"/>
            <a:ext cx="202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ASR 98.29%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2840" y="3037840"/>
            <a:ext cx="202184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饱和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2A497"/>
                </a:solidFill>
                <a:latin typeface="Microsoft YaHei"/>
              </a:defRPr>
            </a:pPr>
            <a:r>
              <a:t>网格大小 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320" y="4333240"/>
            <a:ext cx="202184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k =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320" y="4612640"/>
            <a:ext cx="202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ASR 92.82%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320" y="5232400"/>
            <a:ext cx="202184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太粗-&gt;被当噪声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20624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1080" y="4333240"/>
            <a:ext cx="202184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k =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1080" y="4612640"/>
            <a:ext cx="202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ASR 99.15%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1080" y="5232400"/>
            <a:ext cx="202184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最优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4206240"/>
            <a:ext cx="23774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2840" y="4333240"/>
            <a:ext cx="202184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k = 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2840" y="4612640"/>
            <a:ext cx="202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ASR 97.55%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2840" y="5232400"/>
            <a:ext cx="202184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饱和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1645920"/>
            <a:ext cx="256032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C2A497"/>
                </a:solidFill>
                <a:latin typeface="Microsoft YaHei"/>
              </a:defRPr>
            </a:pPr>
            <a:r>
              <a:t>关键发现</a:t>
            </a:r>
            <a:br/>
            <a:br/>
            <a:r>
              <a:t>WaNet对参数</a:t>
            </a:r>
            <a:br/>
            <a:r>
              <a:t>高度敏感</a:t>
            </a:r>
            <a:br/>
            <a:br/>
            <a:r>
              <a:t>s&lt;0.5或k&lt;4时</a:t>
            </a:r>
            <a:br/>
            <a:r>
              <a:t>攻击大幅下降</a:t>
            </a:r>
            <a:br/>
            <a:br/>
            <a:r>
              <a:t>存在狭窄的</a:t>
            </a:r>
            <a:br/>
            <a:r>
              <a:t>有效参数区间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核心洞察: Warping在频域留下痕迹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  <a:defRPr sz="1800" b="0">
                <a:solidFill>
                  <a:srgbClr val="8C8C8C"/>
                </a:solidFill>
                <a:latin typeface="Microsoft YaHei"/>
              </a:defRPr>
            </a:pPr>
            <a:r>
              <a:t>消融实验揭示了一个重要线索:</a:t>
            </a:r>
          </a:p>
          <a:p>
            <a:pPr>
              <a:spcAft>
                <a:spcPts val="630"/>
              </a:spcAft>
              <a:defRPr sz="1800" b="1">
                <a:solidFill>
                  <a:srgbClr val="C2A497"/>
                </a:solidFill>
                <a:latin typeface="Microsoft YaHei"/>
              </a:defRPr>
            </a:pPr>
            <a:r>
              <a:t>Warping = grid_sample + bilinear interpolation</a:t>
            </a:r>
          </a:p>
          <a:p>
            <a:pPr>
              <a:spcAft>
                <a:spcPts val="630"/>
              </a:spcAft>
              <a:defRPr sz="1800" b="0">
                <a:solidFill>
                  <a:srgbClr val="8C8C8C"/>
                </a:solidFill>
                <a:latin typeface="Microsoft YaHei"/>
              </a:defRPr>
            </a:pPr>
          </a:p>
          <a:p>
            <a:pPr>
              <a:spcAft>
                <a:spcPts val="630"/>
              </a:spcAft>
              <a:defRPr sz="1800" b="1">
                <a:solidFill>
                  <a:srgbClr val="3D3D3D"/>
                </a:solidFill>
                <a:latin typeface="Microsoft YaHei"/>
              </a:defRPr>
            </a:pPr>
            <a:r>
              <a:t>插值运算 = 信号处理 -&gt; 必然在频域留下痕迹!</a:t>
            </a:r>
          </a:p>
          <a:p>
            <a:pPr>
              <a:spcAft>
                <a:spcPts val="630"/>
              </a:spcAft>
              <a:defRPr sz="1800" b="0">
                <a:solidFill>
                  <a:srgbClr val="8C8C8C"/>
                </a:solidFill>
                <a:latin typeface="Microsoft YaHei"/>
              </a:defRPr>
            </a:pPr>
          </a:p>
          <a:p>
            <a:pPr>
              <a:spcAft>
                <a:spcPts val="630"/>
              </a:spcAft>
              <a:defRPr sz="1800" b="0">
                <a:solidFill>
                  <a:srgbClr val="8C8C8C"/>
                </a:solidFill>
                <a:latin typeface="Microsoft YaHei"/>
              </a:defRPr>
            </a:pPr>
            <a:r>
              <a:t>全新检测思路:</a:t>
            </a:r>
          </a:p>
          <a:p>
            <a:pPr>
              <a:spcAft>
                <a:spcPts val="630"/>
              </a:spcAft>
              <a:defRPr sz="1800" b="0">
                <a:solidFill>
                  <a:srgbClr val="D4847A"/>
                </a:solidFill>
                <a:latin typeface="Microsoft YaHei"/>
              </a:defRPr>
            </a:pPr>
            <a:r>
              <a:t>现有防御: 看模型输出 -&gt; 检测不到WaNet</a:t>
            </a:r>
          </a:p>
          <a:p>
            <a:pPr>
              <a:spcAft>
                <a:spcPts val="630"/>
              </a:spcAft>
              <a:defRPr sz="1800" b="1">
                <a:solidFill>
                  <a:srgbClr val="7AA884"/>
                </a:solidFill>
                <a:latin typeface="Microsoft YaHei"/>
              </a:defRPr>
            </a:pPr>
            <a:r>
              <a:t>我们的方法: 看图像频域(FFT) -&gt; 能检测到!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828800"/>
            <a:ext cx="45720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0">
                <a:solidFill>
                  <a:srgbClr val="C2A497"/>
                </a:solidFill>
                <a:latin typeface="Microsoft YaHei"/>
              </a:defRPr>
            </a:pPr>
            <a:r>
              <a:t>Warping的本质</a:t>
            </a:r>
            <a:br/>
            <a:br/>
            <a:r>
              <a:t>grid_sample对图像</a:t>
            </a:r>
            <a:br/>
            <a:r>
              <a:t>做双线性插值</a:t>
            </a:r>
            <a:br/>
            <a:br/>
            <a:r>
              <a:t>每个插值点=周围像素</a:t>
            </a:r>
            <a:br/>
            <a:r>
              <a:t>的加权平均</a:t>
            </a:r>
            <a:br/>
            <a:br/>
            <a:r>
              <a:t>-&gt; 频域高频分量异常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5029200"/>
            <a:ext cx="1069848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C2A497"/>
                </a:solidFill>
                <a:latin typeface="Microsoft YaHei"/>
              </a:defRPr>
            </a:pPr>
            <a:r>
              <a:t>这是论文从未探讨过的维度: 不可感知 != 不可检测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频域Warping检测器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320" y="1955800"/>
            <a:ext cx="16560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STEP1: 图像对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320" y="2235200"/>
            <a:ext cx="165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Clean+Warped</a:t>
            </a:r>
            <a:br/>
            <a:r>
              <a:t>各500张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39" y="2560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C2A497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82880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95320" y="1955800"/>
            <a:ext cx="16560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STEP2: FFT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5320" y="2235200"/>
            <a:ext cx="165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傅里叶变换</a:t>
            </a:r>
            <a:br/>
            <a:r>
              <a:t>频谱图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560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C2A497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0" y="182880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1320" y="1955800"/>
            <a:ext cx="16560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STEP3: 特征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1320" y="2235200"/>
            <a:ext cx="165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高频能量比</a:t>
            </a:r>
            <a:br/>
            <a:r>
              <a:t>频谱熵等6维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560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C2A497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82880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67320" y="1955800"/>
            <a:ext cx="16560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STEP4: SVM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7320" y="2235200"/>
            <a:ext cx="165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8C8C8C"/>
                </a:solidFill>
                <a:latin typeface="Microsoft YaHei"/>
              </a:defRPr>
            </a:pPr>
            <a:r>
              <a:t>RBF核SVM</a:t>
            </a:r>
            <a:br/>
            <a:r>
              <a:t>30%测试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560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C2A497"/>
                </a:solidFill>
                <a:latin typeface="Microsoft YaHei"/>
              </a:defRPr>
            </a:pPr>
            <a: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0" y="1828800"/>
            <a:ext cx="20116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3320" y="1955800"/>
            <a:ext cx="16560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STEP5: 评估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3320" y="2235200"/>
            <a:ext cx="165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C2A497"/>
                </a:solidFill>
                <a:latin typeface="Microsoft YaHei"/>
              </a:defRPr>
            </a:pPr>
            <a:r>
              <a:t>ROC vs STRIP</a:t>
            </a:r>
            <a:br/>
            <a:r>
              <a:t>AUC 0.735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14800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320" y="4241800"/>
            <a:ext cx="4673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6维频域特征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320" y="4521200"/>
            <a:ext cx="467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9B9EC0"/>
                </a:solidFill>
                <a:latin typeface="Microsoft YaHei"/>
              </a:defRPr>
            </a:pPr>
            <a:r>
              <a:t>高频能量比 / 频谱熵 / 均值频率 / 方差频率 / 低频能量比 / 中频能量比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114800"/>
            <a:ext cx="50292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5720" y="4241800"/>
            <a:ext cx="46736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检测结果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95720" y="4521200"/>
            <a:ext cx="467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Acc=67.33%  |  AUC=0.735  |  STRIP AUC=0.50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频域可视化: Clean vs Warped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3120" y="1539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Clean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90720" y="1539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Clean FFT Spectrum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48320" y="15392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Clean Radial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120" y="39166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Warped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0720" y="39166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Warped FFT Spectrum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2A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48320" y="391668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C2A497"/>
                </a:solidFill>
                <a:latin typeface="Microsoft YaHei"/>
              </a:defRPr>
            </a:pPr>
            <a:r>
              <a:t>FFT Difference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插入 results/freq_detector/fft_spectrum_comparison.png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检测性能: 频域检测器 vs STRIP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9320" y="1955800"/>
            <a:ext cx="31191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频域检测器 (Ours)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320" y="2235200"/>
            <a:ext cx="311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7AA884"/>
                </a:solidFill>
                <a:latin typeface="Microsoft YaHei"/>
              </a:defRPr>
            </a:pPr>
            <a:r>
              <a:t>AUC = 0.735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320" y="3403600"/>
            <a:ext cx="31191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准确率 67.33%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8288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49800" y="1955800"/>
            <a:ext cx="311912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STRIP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9800" y="2235200"/>
            <a:ext cx="311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D4847A"/>
                </a:solidFill>
                <a:latin typeface="Microsoft YaHei"/>
              </a:defRPr>
            </a:pPr>
            <a:r>
              <a:t>AUC = 0.50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9800" y="3403600"/>
            <a:ext cx="311912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等同随机猜测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828800"/>
            <a:ext cx="32004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0280" y="1955800"/>
            <a:ext cx="28448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提升幅度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0280" y="2235200"/>
            <a:ext cx="284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C2A497"/>
                </a:solidFill>
                <a:latin typeface="Microsoft YaHei"/>
              </a:defRPr>
            </a:pPr>
            <a:r>
              <a:t>+23.5% 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0280" y="3403600"/>
            <a:ext cx="28448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远超随机基线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0">
                <a:solidFill>
                  <a:srgbClr val="8C8C8C"/>
                </a:solidFill>
                <a:latin typeface="Microsoft YaHei"/>
              </a:defRPr>
            </a:pPr>
            <a:r>
              <a:t>插入 results/freq_detector/roc_curve.png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3D3D3D"/>
                </a:solidFill>
                <a:latin typeface="Microsoft YaHei"/>
              </a:defRPr>
            </a:pPr>
            <a:r>
              <a:t>STRIP看模型输出熵-&gt;无法区分(AUC=0.50)  |  频域检测器看图像信号-&gt;能有效检测(AUC=0.735)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3D3D3D"/>
                </a:solidFill>
                <a:latin typeface="Microsoft YaHei"/>
              </a:defRPr>
            </a:pPr>
            <a:r>
              <a:t>全部实验结果汇总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15636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C2A4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C2A4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Clean Acc</a:t>
                      </a:r>
                    </a:p>
                  </a:txBody>
                  <a:tcPr>
                    <a:solidFill>
                      <a:srgbClr val="C2A4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ASR</a:t>
                      </a:r>
                    </a:p>
                  </a:txBody>
                  <a:tcPr>
                    <a:solidFill>
                      <a:srgbClr val="C2A4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Cross Acc</a:t>
                      </a:r>
                    </a:p>
                  </a:txBody>
                  <a:tcPr>
                    <a:solidFill>
                      <a:srgbClr val="C2A4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Key Finding</a:t>
                      </a:r>
                    </a:p>
                  </a:txBody>
                  <a:tcPr>
                    <a:solidFill>
                      <a:srgbClr val="C2A497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Noise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99.15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89.71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Noise WITHOUT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92.74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98.21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0.00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Noise is KEY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s=0.25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74.12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89.38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 too small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s=0.50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89.69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Optimal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s=1.00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98.29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89.30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Saturated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k=2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92.14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92.82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88.95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D3D3D"/>
                          </a:solidFill>
                          <a:latin typeface="Microsoft YaHei"/>
                        </a:defRPr>
                      </a:pPr>
                      <a:r>
                        <a:t>k too small</a:t>
                      </a:r>
                    </a:p>
                  </a:txBody>
                  <a:tcPr>
                    <a:solidFill>
                      <a:srgbClr val="F5F0E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k=4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99.15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89.71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Optimal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k=8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91.94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97.55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88.04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Saturated</a:t>
                      </a:r>
                    </a:p>
                  </a:txBody>
                  <a:tcPr/>
                </a:tc>
              </a:tr>
              <a:tr h="41563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Seed=0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89.69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Stable</a:t>
                      </a:r>
                    </a:p>
                  </a:txBody>
                  <a:tcPr/>
                </a:tc>
              </a:tr>
              <a:tr h="4156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Seed=1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92.10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98.70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88.72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8C8C8C"/>
                          </a:solidFill>
                          <a:latin typeface="Microsoft YaHei"/>
                        </a:defRPr>
                      </a:pPr>
                      <a:r>
                        <a:t>Stable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09728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3D3D3D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1828800"/>
            <a:ext cx="3047695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3774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AA884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23774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D3D3D"/>
                </a:solidFill>
                <a:latin typeface="Microsoft YaHei"/>
              </a:defRPr>
            </a:pPr>
            <a:r>
              <a:t>WaNet攻击高度有效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74320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CIFAR-10上ASR达99.15%, Clean保持92.84%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3832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2A497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3832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D3D3D"/>
                </a:solidFill>
                <a:latin typeface="Microsoft YaHei"/>
              </a:defRPr>
            </a:pPr>
            <a:r>
              <a:t>Noise Mode是绕过防御的关键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374904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无Noise时Cross=0%, 后门可被Neural Cleanse检测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89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D4847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438912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D3D3D"/>
                </a:solidFill>
                <a:latin typeface="Microsoft YaHei"/>
              </a:defRPr>
            </a:pPr>
            <a:r>
              <a:t>Warping参数高度敏感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5488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s&lt;0.5或k&lt;4时攻击大幅下降 — 存在狭窄有效区间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3949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7AA884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39496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D3D3D"/>
                </a:solidFill>
                <a:latin typeface="Microsoft YaHei"/>
              </a:defRPr>
            </a:pPr>
            <a:r>
              <a:t>频域检测: 我们的创新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5760720"/>
            <a:ext cx="7772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8C8C8C"/>
                </a:solidFill>
                <a:latin typeface="Microsoft YaHei"/>
              </a:defRPr>
            </a:pPr>
            <a:r>
              <a:t>首次从图像信号层面检测warping后门, AUC 0.735远超市面上最强的STRIP(0.50)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534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3D3D3D"/>
                </a:solidFill>
                <a:latin typeface="Microsoft YaHei"/>
              </a:defRPr>
            </a:pPr>
            <a:r>
              <a:t>成员分工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103120"/>
            <a:ext cx="3047695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743200"/>
            <a:ext cx="3840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06600" y="2870200"/>
            <a:ext cx="34848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周争妍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6600" y="3149600"/>
            <a:ext cx="348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C2A497"/>
                </a:solidFill>
                <a:latin typeface="Microsoft YaHei"/>
              </a:defRPr>
            </a:pPr>
            <a:r>
              <a:t>主实验复现+防御验证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6600" y="4775200"/>
            <a:ext cx="348488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3数据集 x 2模式</a:t>
            </a:r>
            <a:br/>
            <a:r>
              <a:t>STRIP / Fine-Pruning / Neural Cleanse</a:t>
            </a:r>
            <a:br/>
            <a:r>
              <a:t>环境配置 + tmux并行脚本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743200"/>
            <a:ext cx="3840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3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0040" y="2870200"/>
            <a:ext cx="348488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C8C8C"/>
                </a:solidFill>
                <a:latin typeface="Microsoft YaHei"/>
              </a:defRPr>
            </a:pPr>
            <a:r>
              <a:t>蒋竺君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0040" y="3149600"/>
            <a:ext cx="348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9B9EC0"/>
                </a:solidFill>
                <a:latin typeface="Microsoft YaHei"/>
              </a:defRPr>
            </a:pPr>
            <a:r>
              <a:t>消融实验+频域检测器+可视化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0040" y="4775200"/>
            <a:ext cx="348488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8C8C8C"/>
                </a:solidFill>
                <a:latin typeface="Microsoft YaHei"/>
              </a:defRPr>
            </a:pPr>
            <a:r>
              <a:t>Noise/s/k参数扫描 (10组)</a:t>
            </a:r>
            <a:br/>
            <a:r>
              <a:t>频域检测器 (AUC 0.735)</a:t>
            </a:r>
            <a:br/>
            <a:r>
              <a:t>Dashboard + PPT制作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0" y="2560320"/>
            <a:ext cx="6705295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2834640"/>
            <a:ext cx="6705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3D3D3D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931920"/>
            <a:ext cx="670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0">
                <a:solidFill>
                  <a:srgbClr val="8C8C8C"/>
                </a:solidFill>
                <a:latin typeface="Microsoft YaHei"/>
              </a:defRPr>
            </a:pPr>
            <a:r>
              <a:t>WaNet复现与分析  ·  AI安全课程设计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4572000"/>
            <a:ext cx="670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C2A497"/>
                </a:solidFill>
                <a:latin typeface="Microsoft YaHei"/>
              </a:defRPr>
            </a:pPr>
            <a:r>
              <a:t>github.com/axgo-ja/NIS3353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5303520"/>
            <a:ext cx="6705295" cy="12700"/>
          </a:xfrm>
          <a:prstGeom prst="rect">
            <a:avLst/>
          </a:prstGeom>
          <a:solidFill>
            <a:srgbClr val="C2A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